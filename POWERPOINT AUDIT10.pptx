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1"/>
  </p:notesMasterIdLst>
  <p:handoutMasterIdLst>
    <p:handoutMasterId r:id="rId32"/>
  </p:handoutMasterIdLst>
  <p:sldIdLst>
    <p:sldId id="292"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98" d="100"/>
          <a:sy n="98" d="100"/>
        </p:scale>
        <p:origin x="67" y="-24"/>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8" d="100"/>
          <a:sy n="88" d="100"/>
        </p:scale>
        <p:origin x="3810"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B38A06D-996C-44F3-B913-825DFD8AC179}" type="datetime1">
              <a:rPr lang="fr-FR" smtClean="0"/>
              <a:t>17/05/2026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4C531EA-3B14-40B9-94EF-FFD37E10845B}" type="slidenum">
              <a:rPr lang="fr-FR" smtClean="0"/>
              <a:t>‹#›</a:t>
            </a:fld>
            <a:endParaRPr lang="fr-FR"/>
          </a:p>
        </p:txBody>
      </p:sp>
    </p:spTree>
    <p:extLst>
      <p:ext uri="{BB962C8B-B14F-4D97-AF65-F5344CB8AC3E}">
        <p14:creationId xmlns:p14="http://schemas.microsoft.com/office/powerpoint/2010/main" val="12531907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04E131D3-9BE2-46E8-B996-039A12B2C477}" type="datetime1">
              <a:rPr lang="fr-FR" noProof="0" smtClean="0"/>
              <a:t>17/05/2026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733D7A2-C585-48BF-BF8C-C21FDC051F77}" type="slidenum">
              <a:rPr lang="fr-FR" noProof="0" smtClean="0"/>
              <a:t>‹#›</a:t>
            </a:fld>
            <a:endParaRPr lang="fr-FR" noProof="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915128" y="1788454"/>
            <a:ext cx="8361229" cy="2098226"/>
          </a:xfrm>
        </p:spPr>
        <p:txBody>
          <a:bodyPr rtlCol="0" anchor="b">
            <a:noAutofit/>
          </a:bodyPr>
          <a:lstStyle>
            <a:lvl1pPr algn="ctr">
              <a:defRPr sz="7200" cap="all" baseline="0">
                <a:solidFill>
                  <a:schemeClr val="tx2"/>
                </a:solidFill>
              </a:defRPr>
            </a:lvl1pPr>
          </a:lstStyle>
          <a:p>
            <a:pPr rtl="0"/>
            <a:r>
              <a:rPr lang="en-US" noProof="0"/>
              <a:t>Click to edit Master title style</a:t>
            </a:r>
            <a:endParaRPr lang="fr-FR" noProof="0"/>
          </a:p>
        </p:txBody>
      </p:sp>
      <p:sp>
        <p:nvSpPr>
          <p:cNvPr id="3" name="Sous-titre 2"/>
          <p:cNvSpPr>
            <a:spLocks noGrp="1"/>
          </p:cNvSpPr>
          <p:nvPr>
            <p:ph type="subTitle" idx="1"/>
          </p:nvPr>
        </p:nvSpPr>
        <p:spPr>
          <a:xfrm>
            <a:off x="2679906" y="3956279"/>
            <a:ext cx="6831673" cy="1086237"/>
          </a:xfrm>
        </p:spPr>
        <p:txBody>
          <a:bodyPr rtlCol="0">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fr-FR" noProof="0"/>
          </a:p>
        </p:txBody>
      </p:sp>
      <p:sp>
        <p:nvSpPr>
          <p:cNvPr id="4" name="Espace réservé de la date 3"/>
          <p:cNvSpPr>
            <a:spLocks noGrp="1"/>
          </p:cNvSpPr>
          <p:nvPr>
            <p:ph type="dt" sz="half" idx="10"/>
          </p:nvPr>
        </p:nvSpPr>
        <p:spPr>
          <a:xfrm>
            <a:off x="752858" y="6453386"/>
            <a:ext cx="1607944" cy="404614"/>
          </a:xfrm>
        </p:spPr>
        <p:txBody>
          <a:bodyPr rtlCol="0"/>
          <a:lstStyle>
            <a:lvl1pPr>
              <a:defRPr baseline="0">
                <a:solidFill>
                  <a:schemeClr val="tx2"/>
                </a:solidFill>
              </a:defRPr>
            </a:lvl1pPr>
          </a:lstStyle>
          <a:p>
            <a:pPr rtl="0"/>
            <a:fld id="{06C86350-C59B-49B7-B6A3-C006A2D9A913}" type="datetime1">
              <a:rPr lang="fr-FR" noProof="0" smtClean="0"/>
              <a:t>17/05/2026</a:t>
            </a:fld>
            <a:endParaRPr lang="fr-FR" noProof="0"/>
          </a:p>
        </p:txBody>
      </p:sp>
      <p:sp>
        <p:nvSpPr>
          <p:cNvPr id="5" name="Espace réservé du pied de page 4"/>
          <p:cNvSpPr>
            <a:spLocks noGrp="1"/>
          </p:cNvSpPr>
          <p:nvPr>
            <p:ph type="ftr" sz="quarter" idx="11"/>
          </p:nvPr>
        </p:nvSpPr>
        <p:spPr>
          <a:xfrm>
            <a:off x="2584054" y="6453386"/>
            <a:ext cx="7023377" cy="404614"/>
          </a:xfrm>
        </p:spPr>
        <p:txBody>
          <a:bodyPr rtlCol="0"/>
          <a:lstStyle>
            <a:lvl1pPr algn="ctr">
              <a:defRPr baseline="0">
                <a:solidFill>
                  <a:schemeClr val="tx2"/>
                </a:solidFill>
              </a:defRPr>
            </a:lvl1pPr>
          </a:lstStyle>
          <a:p>
            <a:pPr rtl="0"/>
            <a:endParaRPr lang="fr-FR" noProof="0"/>
          </a:p>
        </p:txBody>
      </p:sp>
      <p:sp>
        <p:nvSpPr>
          <p:cNvPr id="6" name="Espace réservé du numéro de diapositive 5"/>
          <p:cNvSpPr>
            <a:spLocks noGrp="1"/>
          </p:cNvSpPr>
          <p:nvPr>
            <p:ph type="sldNum" sz="quarter" idx="12"/>
          </p:nvPr>
        </p:nvSpPr>
        <p:spPr>
          <a:xfrm>
            <a:off x="9830683" y="6453386"/>
            <a:ext cx="1596292" cy="404614"/>
          </a:xfrm>
        </p:spPr>
        <p:txBody>
          <a:bodyPr rtlCol="0"/>
          <a:lstStyle>
            <a:lvl1pPr>
              <a:defRPr baseline="0">
                <a:solidFill>
                  <a:schemeClr val="tx2"/>
                </a:solidFill>
              </a:defRPr>
            </a:lvl1pPr>
          </a:lstStyle>
          <a:p>
            <a:pPr rtl="0"/>
            <a:fld id="{69E57DC2-970A-4B3E-BB1C-7A09969E49DF}" type="slidenum">
              <a:rPr lang="fr-FR" noProof="0" smtClean="0"/>
              <a:pPr rtl="0"/>
              <a:t>‹#›</a:t>
            </a:fld>
            <a:endParaRPr lang="fr-FR" noProof="0"/>
          </a:p>
        </p:txBody>
      </p:sp>
      <p:grpSp>
        <p:nvGrpSpPr>
          <p:cNvPr id="7" name="Groupe 6"/>
          <p:cNvGrpSpPr/>
          <p:nvPr/>
        </p:nvGrpSpPr>
        <p:grpSpPr>
          <a:xfrm>
            <a:off x="752858" y="744469"/>
            <a:ext cx="10674117" cy="5349671"/>
            <a:chOff x="752858" y="744469"/>
            <a:chExt cx="10674117" cy="5349671"/>
          </a:xfrm>
        </p:grpSpPr>
        <p:sp>
          <p:nvSpPr>
            <p:cNvPr id="11" name="Forme libre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fr-BE"/>
            </a:p>
          </p:txBody>
        </p:sp>
        <p:sp>
          <p:nvSpPr>
            <p:cNvPr id="14" name="Forme libre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fr-BE"/>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en-US" noProof="0"/>
              <a:t>Click to edit Master title style</a:t>
            </a:r>
            <a:endParaRPr lang="fr-FR" noProof="0"/>
          </a:p>
        </p:txBody>
      </p:sp>
      <p:sp>
        <p:nvSpPr>
          <p:cNvPr id="3" name="Espace réservé du contenu 2"/>
          <p:cNvSpPr>
            <a:spLocks noGrp="1"/>
          </p:cNvSpPr>
          <p:nvPr>
            <p:ph idx="1" hasCustomPrompt="1"/>
          </p:nvPr>
        </p:nvSpPr>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10"/>
          </p:nvPr>
        </p:nvSpPr>
        <p:spPr/>
        <p:txBody>
          <a:bodyPr rtlCol="0"/>
          <a:lstStyle/>
          <a:p>
            <a:pPr rtl="0"/>
            <a:fld id="{4E7AD2B4-193C-44DA-BE2C-33100C37057E}" type="datetime1">
              <a:rPr lang="fr-FR" noProof="0" smtClean="0"/>
              <a:t>17/05/2026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65025" y="1301360"/>
            <a:ext cx="9612971" cy="2852737"/>
          </a:xfrm>
        </p:spPr>
        <p:txBody>
          <a:bodyPr rtlCol="0" anchor="b">
            <a:normAutofit/>
          </a:bodyPr>
          <a:lstStyle>
            <a:lvl1pPr algn="r">
              <a:defRPr sz="7200" cap="all" baseline="0">
                <a:solidFill>
                  <a:schemeClr val="tx2"/>
                </a:solidFill>
              </a:defRPr>
            </a:lvl1pPr>
          </a:lstStyle>
          <a:p>
            <a:pPr rtl="0"/>
            <a:r>
              <a:rPr lang="en-US" noProof="0"/>
              <a:t>Click to edit Master title style</a:t>
            </a:r>
            <a:endParaRPr lang="fr-FR" noProof="0"/>
          </a:p>
        </p:txBody>
      </p:sp>
      <p:sp>
        <p:nvSpPr>
          <p:cNvPr id="3" name="Espace réservé du texte 2"/>
          <p:cNvSpPr>
            <a:spLocks noGrp="1"/>
          </p:cNvSpPr>
          <p:nvPr>
            <p:ph type="body" idx="1" hasCustomPrompt="1"/>
          </p:nvPr>
        </p:nvSpPr>
        <p:spPr>
          <a:xfrm>
            <a:off x="765025" y="4216328"/>
            <a:ext cx="9612971" cy="1143324"/>
          </a:xfrm>
        </p:spPr>
        <p:txBody>
          <a:bodyPr rtlCol="0"/>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a:xfrm>
            <a:off x="738908" y="6453386"/>
            <a:ext cx="1622409" cy="404614"/>
          </a:xfrm>
        </p:spPr>
        <p:txBody>
          <a:bodyPr rtlCol="0"/>
          <a:lstStyle>
            <a:lvl1pPr>
              <a:defRPr>
                <a:solidFill>
                  <a:schemeClr val="tx2"/>
                </a:solidFill>
              </a:defRPr>
            </a:lvl1pPr>
          </a:lstStyle>
          <a:p>
            <a:pPr rtl="0"/>
            <a:fld id="{EB5E0A11-9398-468D-A8E2-506101C27709}" type="datetime1">
              <a:rPr lang="fr-FR" noProof="0" smtClean="0"/>
              <a:t>17/05/2026</a:t>
            </a:fld>
            <a:endParaRPr lang="fr-FR" noProof="0"/>
          </a:p>
        </p:txBody>
      </p:sp>
      <p:sp>
        <p:nvSpPr>
          <p:cNvPr id="5" name="Espace réservé du pied de page 4"/>
          <p:cNvSpPr>
            <a:spLocks noGrp="1"/>
          </p:cNvSpPr>
          <p:nvPr>
            <p:ph type="ftr" sz="quarter" idx="11"/>
          </p:nvPr>
        </p:nvSpPr>
        <p:spPr>
          <a:xfrm>
            <a:off x="2584312" y="6453386"/>
            <a:ext cx="7023377" cy="404614"/>
          </a:xfrm>
        </p:spPr>
        <p:txBody>
          <a:bodyPr rtlCol="0"/>
          <a:lstStyle>
            <a:lvl1pPr algn="ctr">
              <a:defRPr>
                <a:solidFill>
                  <a:schemeClr val="tx2"/>
                </a:solidFill>
              </a:defRPr>
            </a:lvl1pPr>
          </a:lstStyle>
          <a:p>
            <a:pPr rtl="0"/>
            <a:endParaRPr lang="fr-FR" noProof="0"/>
          </a:p>
        </p:txBody>
      </p:sp>
      <p:sp>
        <p:nvSpPr>
          <p:cNvPr id="6" name="Espace réservé du numéro de diapositive 5"/>
          <p:cNvSpPr>
            <a:spLocks noGrp="1"/>
          </p:cNvSpPr>
          <p:nvPr>
            <p:ph type="sldNum" sz="quarter" idx="12"/>
          </p:nvPr>
        </p:nvSpPr>
        <p:spPr>
          <a:xfrm>
            <a:off x="9830683" y="6453386"/>
            <a:ext cx="1596292" cy="404614"/>
          </a:xfrm>
        </p:spPr>
        <p:txBody>
          <a:bodyPr rtlCol="0"/>
          <a:lstStyle>
            <a:lvl1pPr>
              <a:defRPr>
                <a:solidFill>
                  <a:schemeClr val="tx2"/>
                </a:solidFill>
              </a:defRPr>
            </a:lvl1pPr>
          </a:lstStyle>
          <a:p>
            <a:pPr rtl="0"/>
            <a:fld id="{69E57DC2-970A-4B3E-BB1C-7A09969E49DF}" type="slidenum">
              <a:rPr lang="fr-FR" noProof="0" smtClean="0"/>
              <a:pPr rtl="0"/>
              <a:t>‹#›</a:t>
            </a:fld>
            <a:endParaRPr lang="fr-FR" noProof="0"/>
          </a:p>
        </p:txBody>
      </p:sp>
      <p:sp>
        <p:nvSpPr>
          <p:cNvPr id="7" name="Forme libre 6" title="Repère de rognage"/>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fr-B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lvl1pPr>
              <a:defRPr>
                <a:solidFill>
                  <a:schemeClr val="tx2"/>
                </a:solidFill>
              </a:defRPr>
            </a:lvl1pPr>
          </a:lstStyle>
          <a:p>
            <a:pPr rtl="0"/>
            <a:r>
              <a:rPr lang="en-US" noProof="0"/>
              <a:t>Click to edit Master title style</a:t>
            </a:r>
            <a:endParaRPr lang="fr-FR" noProof="0"/>
          </a:p>
        </p:txBody>
      </p:sp>
      <p:sp>
        <p:nvSpPr>
          <p:cNvPr id="3" name="Espace réservé du contenu 2"/>
          <p:cNvSpPr>
            <a:spLocks noGrp="1"/>
          </p:cNvSpPr>
          <p:nvPr>
            <p:ph sz="half" idx="1" hasCustomPrompt="1"/>
          </p:nvPr>
        </p:nvSpPr>
        <p:spPr>
          <a:xfrm>
            <a:off x="1371600" y="2285999"/>
            <a:ext cx="4447786" cy="3581401"/>
          </a:xfrm>
        </p:spPr>
        <p:txBody>
          <a:bodyPr rtlCol="0"/>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6525403" y="2285999"/>
            <a:ext cx="4447786" cy="3581401"/>
          </a:xfr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C6563BBE-4BD2-44A6-88C2-3DFD8FC8C1A5}" type="datetime1">
              <a:rPr lang="fr-FR" noProof="0" smtClean="0"/>
              <a:t>17/05/2026</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1371600" y="685800"/>
            <a:ext cx="9601200" cy="1485900"/>
          </a:xfrm>
        </p:spPr>
        <p:txBody>
          <a:bodyPr rtlCol="0"/>
          <a:lstStyle>
            <a:lvl1pPr>
              <a:defRPr>
                <a:solidFill>
                  <a:schemeClr val="tx2"/>
                </a:solidFill>
              </a:defRPr>
            </a:lvl1pPr>
          </a:lstStyle>
          <a:p>
            <a:pPr rtl="0"/>
            <a:r>
              <a:rPr lang="en-US" noProof="0"/>
              <a:t>Click to edit Master title style</a:t>
            </a:r>
            <a:endParaRPr lang="fr-FR" noProof="0"/>
          </a:p>
        </p:txBody>
      </p:sp>
      <p:sp>
        <p:nvSpPr>
          <p:cNvPr id="3" name="Espace réservé du texte 2"/>
          <p:cNvSpPr>
            <a:spLocks noGrp="1"/>
          </p:cNvSpPr>
          <p:nvPr>
            <p:ph type="body" idx="1" hasCustomPrompt="1"/>
          </p:nvPr>
        </p:nvSpPr>
        <p:spPr>
          <a:xfrm>
            <a:off x="1371600" y="2340864"/>
            <a:ext cx="4443984" cy="823912"/>
          </a:xfrm>
        </p:spPr>
        <p:txBody>
          <a:bodyPr rtlCol="0"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4" name="Espace réservé du contenu 3"/>
          <p:cNvSpPr>
            <a:spLocks noGrp="1"/>
          </p:cNvSpPr>
          <p:nvPr>
            <p:ph sz="half" idx="2" hasCustomPrompt="1"/>
          </p:nvPr>
        </p:nvSpPr>
        <p:spPr>
          <a:xfrm>
            <a:off x="1371600" y="3305207"/>
            <a:ext cx="4443984" cy="2562193"/>
          </a:xfrm>
        </p:spPr>
        <p:txBody>
          <a:bodyPr rtlCol="0"/>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525014" y="2340864"/>
            <a:ext cx="4443984" cy="823912"/>
          </a:xfrm>
        </p:spPr>
        <p:txBody>
          <a:bodyPr rtlCol="0"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6" name="Espace réservé du contenu 5"/>
          <p:cNvSpPr>
            <a:spLocks noGrp="1"/>
          </p:cNvSpPr>
          <p:nvPr>
            <p:ph sz="quarter" idx="4" hasCustomPrompt="1"/>
          </p:nvPr>
        </p:nvSpPr>
        <p:spPr>
          <a:xfrm>
            <a:off x="6525014" y="3305207"/>
            <a:ext cx="4443984" cy="2562193"/>
          </a:xfrm>
        </p:spPr>
        <p:txBody>
          <a:bodyPr rtlCol="0"/>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D262C45A-21A3-4B05-B2F9-D8CB0570209E}" type="datetime1">
              <a:rPr lang="fr-FR" noProof="0" smtClean="0"/>
              <a:t>17/05/2026</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en-US" noProof="0"/>
              <a:t>Click to edit Master title style</a:t>
            </a:r>
            <a:endParaRPr lang="fr-FR" noProof="0"/>
          </a:p>
        </p:txBody>
      </p:sp>
      <p:sp>
        <p:nvSpPr>
          <p:cNvPr id="3" name="Espace réservé de la date 2"/>
          <p:cNvSpPr>
            <a:spLocks noGrp="1"/>
          </p:cNvSpPr>
          <p:nvPr>
            <p:ph type="dt" sz="half" idx="10"/>
          </p:nvPr>
        </p:nvSpPr>
        <p:spPr/>
        <p:txBody>
          <a:bodyPr rtlCol="0"/>
          <a:lstStyle/>
          <a:p>
            <a:pPr rtl="0"/>
            <a:fld id="{3B3B5F54-669E-4242-B20C-FEC67C52BA91}" type="datetime1">
              <a:rPr lang="fr-FR" noProof="0" smtClean="0"/>
              <a:t>17/05/2026</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874E34C7-1BD1-4C59-A431-26F54DD0FE99}" type="datetime1">
              <a:rPr lang="fr-FR" noProof="0" smtClean="0"/>
              <a:t>17/05/2026</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Forme d’arrière-plan"/>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BE"/>
          </a:p>
        </p:txBody>
      </p:sp>
      <p:sp>
        <p:nvSpPr>
          <p:cNvPr id="2" name="Titre 1"/>
          <p:cNvSpPr>
            <a:spLocks noGrp="1"/>
          </p:cNvSpPr>
          <p:nvPr>
            <p:ph type="title"/>
          </p:nvPr>
        </p:nvSpPr>
        <p:spPr>
          <a:xfrm>
            <a:off x="723900" y="685800"/>
            <a:ext cx="3855720" cy="2157884"/>
          </a:xfrm>
        </p:spPr>
        <p:txBody>
          <a:bodyPr rtlCol="0" anchor="t">
            <a:noAutofit/>
          </a:bodyPr>
          <a:lstStyle>
            <a:lvl1pPr>
              <a:lnSpc>
                <a:spcPct val="84000"/>
              </a:lnSpc>
              <a:defRPr sz="4800" baseline="0">
                <a:solidFill>
                  <a:schemeClr val="tx2"/>
                </a:solidFill>
              </a:defRPr>
            </a:lvl1pPr>
          </a:lstStyle>
          <a:p>
            <a:pPr rtl="0"/>
            <a:r>
              <a:rPr lang="en-US" noProof="0"/>
              <a:t>Click to edit Master title style</a:t>
            </a:r>
            <a:endParaRPr lang="fr-FR" noProof="0"/>
          </a:p>
        </p:txBody>
      </p:sp>
      <p:sp>
        <p:nvSpPr>
          <p:cNvPr id="3" name="Espace réservé du contenu 2"/>
          <p:cNvSpPr>
            <a:spLocks noGrp="1"/>
          </p:cNvSpPr>
          <p:nvPr>
            <p:ph idx="1" hasCustomPrompt="1"/>
          </p:nvPr>
        </p:nvSpPr>
        <p:spPr>
          <a:xfrm>
            <a:off x="6256020" y="685801"/>
            <a:ext cx="5212080" cy="5175250"/>
          </a:xfrm>
        </p:spPr>
        <p:txBody>
          <a:bodyPr rtlCol="0"/>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723900" y="2856344"/>
            <a:ext cx="3855720" cy="3011056"/>
          </a:xfrm>
        </p:spPr>
        <p:txBody>
          <a:bodyPr rtlCol="0"/>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a:xfrm>
            <a:off x="723900" y="6453386"/>
            <a:ext cx="1204572" cy="404614"/>
          </a:xfrm>
        </p:spPr>
        <p:txBody>
          <a:bodyPr rtlCol="0"/>
          <a:lstStyle>
            <a:lvl1pPr>
              <a:defRPr>
                <a:solidFill>
                  <a:schemeClr val="tx2"/>
                </a:solidFill>
              </a:defRPr>
            </a:lvl1pPr>
          </a:lstStyle>
          <a:p>
            <a:pPr rtl="0"/>
            <a:fld id="{89B75EAA-98D5-4BE3-BEEC-5DF1769883AE}" type="datetime1">
              <a:rPr lang="fr-FR" noProof="0" smtClean="0"/>
              <a:t>17/05/2026</a:t>
            </a:fld>
            <a:endParaRPr lang="fr-FR" noProof="0"/>
          </a:p>
        </p:txBody>
      </p:sp>
      <p:sp>
        <p:nvSpPr>
          <p:cNvPr id="6" name="Espace réservé du pied de page 5"/>
          <p:cNvSpPr>
            <a:spLocks noGrp="1"/>
          </p:cNvSpPr>
          <p:nvPr>
            <p:ph type="ftr" sz="quarter" idx="11"/>
          </p:nvPr>
        </p:nvSpPr>
        <p:spPr>
          <a:xfrm>
            <a:off x="2205945" y="6453386"/>
            <a:ext cx="2373675" cy="404614"/>
          </a:xfrm>
        </p:spPr>
        <p:txBody>
          <a:bodyPr rtlCol="0"/>
          <a:lstStyle>
            <a:lvl1pPr>
              <a:defRPr>
                <a:solidFill>
                  <a:schemeClr val="tx2"/>
                </a:solidFill>
              </a:defRPr>
            </a:lvl1pPr>
          </a:lstStyle>
          <a:p>
            <a:pPr rtl="0"/>
            <a:endParaRPr lang="fr-FR" noProof="0"/>
          </a:p>
        </p:txBody>
      </p:sp>
      <p:sp>
        <p:nvSpPr>
          <p:cNvPr id="7" name="Espace réservé du numéro de diapositive 6"/>
          <p:cNvSpPr>
            <a:spLocks noGrp="1"/>
          </p:cNvSpPr>
          <p:nvPr>
            <p:ph type="sldNum" sz="quarter" idx="12"/>
          </p:nvPr>
        </p:nvSpPr>
        <p:spPr>
          <a:xfrm>
            <a:off x="9883140" y="6453386"/>
            <a:ext cx="1596292" cy="404614"/>
          </a:xfrm>
        </p:spPr>
        <p:txBody>
          <a:bodyPr rtlCol="0"/>
          <a:lstStyle>
            <a:lvl1pPr>
              <a:defRPr>
                <a:solidFill>
                  <a:schemeClr val="tx2"/>
                </a:solidFill>
              </a:defRPr>
            </a:lvl1pPr>
          </a:lstStyle>
          <a:p>
            <a:pPr rtl="0"/>
            <a:fld id="{69E57DC2-970A-4B3E-BB1C-7A09969E49DF}" type="slidenum">
              <a:rPr lang="fr-FR" noProof="0" smtClean="0"/>
              <a:pPr rtl="0"/>
              <a:t>‹#›</a:t>
            </a:fld>
            <a:endParaRPr lang="fr-FR" noProof="0"/>
          </a:p>
        </p:txBody>
      </p:sp>
      <p:sp>
        <p:nvSpPr>
          <p:cNvPr id="9" name="Rectangle 8" title="Barre de séparation"/>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Forme d’arrière-plan"/>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BE"/>
          </a:p>
        </p:txBody>
      </p:sp>
      <p:sp>
        <p:nvSpPr>
          <p:cNvPr id="2" name="Titre 1"/>
          <p:cNvSpPr>
            <a:spLocks noGrp="1"/>
          </p:cNvSpPr>
          <p:nvPr>
            <p:ph type="title"/>
          </p:nvPr>
        </p:nvSpPr>
        <p:spPr>
          <a:xfrm>
            <a:off x="723900" y="685800"/>
            <a:ext cx="3855720" cy="2157884"/>
          </a:xfrm>
        </p:spPr>
        <p:txBody>
          <a:bodyPr rtlCol="0" anchor="t">
            <a:normAutofit/>
          </a:bodyPr>
          <a:lstStyle>
            <a:lvl1pPr>
              <a:lnSpc>
                <a:spcPct val="84000"/>
              </a:lnSpc>
              <a:defRPr sz="4800" baseline="0"/>
            </a:lvl1pPr>
          </a:lstStyle>
          <a:p>
            <a:pPr rtl="0"/>
            <a:r>
              <a:rPr lang="en-US" noProof="0"/>
              <a:t>Click to edit Master title style</a:t>
            </a:r>
            <a:endParaRPr lang="fr-FR" noProof="0"/>
          </a:p>
        </p:txBody>
      </p:sp>
      <p:sp>
        <p:nvSpPr>
          <p:cNvPr id="3" name="Espace réservé de l’image 2"/>
          <p:cNvSpPr>
            <a:spLocks noGrp="1" noChangeAspect="1"/>
          </p:cNvSpPr>
          <p:nvPr>
            <p:ph type="pic" idx="1" hasCustomPrompt="1"/>
          </p:nvPr>
        </p:nvSpPr>
        <p:spPr>
          <a:xfrm>
            <a:off x="5532120" y="0"/>
            <a:ext cx="6659880" cy="6857999"/>
          </a:xfrm>
        </p:spPr>
        <p:txBody>
          <a:bodyPr rtlCol="0"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723900" y="2855968"/>
            <a:ext cx="3855720" cy="3011432"/>
          </a:xfrm>
        </p:spPr>
        <p:txBody>
          <a:bodyPr rtlCol="0"/>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a:xfrm>
            <a:off x="723900" y="6453386"/>
            <a:ext cx="1204572" cy="404614"/>
          </a:xfrm>
        </p:spPr>
        <p:txBody>
          <a:bodyPr rtlCol="0"/>
          <a:lstStyle>
            <a:lvl1pPr>
              <a:defRPr>
                <a:solidFill>
                  <a:schemeClr val="tx2"/>
                </a:solidFill>
              </a:defRPr>
            </a:lvl1pPr>
          </a:lstStyle>
          <a:p>
            <a:pPr rtl="0"/>
            <a:fld id="{7905269A-CAA5-4373-8346-72C4F88512B2}" type="datetime1">
              <a:rPr lang="fr-FR" noProof="0" smtClean="0"/>
              <a:t>17/05/2026</a:t>
            </a:fld>
            <a:endParaRPr lang="fr-FR" noProof="0"/>
          </a:p>
        </p:txBody>
      </p:sp>
      <p:sp>
        <p:nvSpPr>
          <p:cNvPr id="6" name="Espace réservé du pied de page 5"/>
          <p:cNvSpPr>
            <a:spLocks noGrp="1"/>
          </p:cNvSpPr>
          <p:nvPr>
            <p:ph type="ftr" sz="quarter" idx="11"/>
          </p:nvPr>
        </p:nvSpPr>
        <p:spPr>
          <a:xfrm>
            <a:off x="2205945" y="6453386"/>
            <a:ext cx="2373675" cy="404614"/>
          </a:xfrm>
        </p:spPr>
        <p:txBody>
          <a:bodyPr rtlCol="0"/>
          <a:lstStyle>
            <a:lvl1pPr>
              <a:defRPr>
                <a:solidFill>
                  <a:schemeClr val="tx2"/>
                </a:solidFill>
              </a:defRPr>
            </a:lvl1pPr>
          </a:lstStyle>
          <a:p>
            <a:pPr rtl="0"/>
            <a:endParaRPr lang="fr-FR" noProof="0"/>
          </a:p>
        </p:txBody>
      </p:sp>
      <p:sp>
        <p:nvSpPr>
          <p:cNvPr id="7" name="Espace réservé du numéro de diapositive 6"/>
          <p:cNvSpPr>
            <a:spLocks noGrp="1"/>
          </p:cNvSpPr>
          <p:nvPr>
            <p:ph type="sldNum" sz="quarter" idx="12"/>
          </p:nvPr>
        </p:nvSpPr>
        <p:spPr>
          <a:xfrm>
            <a:off x="9883140" y="6453386"/>
            <a:ext cx="1596292" cy="404614"/>
          </a:xfrm>
        </p:spPr>
        <p:txBody>
          <a:bodyPr rtlCol="0"/>
          <a:lstStyle>
            <a:lvl1pPr>
              <a:defRPr>
                <a:solidFill>
                  <a:schemeClr val="tx2"/>
                </a:solidFill>
              </a:defRPr>
            </a:lvl1pPr>
          </a:lstStyle>
          <a:p>
            <a:pPr rtl="0"/>
            <a:fld id="{69E57DC2-970A-4B3E-BB1C-7A09969E49DF}" type="slidenum">
              <a:rPr lang="fr-FR" noProof="0" smtClean="0"/>
              <a:pPr rtl="0"/>
              <a:t>‹#›</a:t>
            </a:fld>
            <a:endParaRPr lang="fr-FR" noProof="0"/>
          </a:p>
        </p:txBody>
      </p:sp>
      <p:sp>
        <p:nvSpPr>
          <p:cNvPr id="9" name="Rectangle 8" title="Barre de séparation"/>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en-US" noProof="0"/>
              <a:t>Click to edit Master title style</a:t>
            </a:r>
            <a:endParaRPr lang="fr-FR" noProof="0"/>
          </a:p>
        </p:txBody>
      </p:sp>
      <p:sp>
        <p:nvSpPr>
          <p:cNvPr id="3" name="Espace réservé du texte vertical 2"/>
          <p:cNvSpPr>
            <a:spLocks noGrp="1"/>
          </p:cNvSpPr>
          <p:nvPr>
            <p:ph type="body" orient="vert" idx="1" hasCustomPrompt="1"/>
          </p:nvPr>
        </p:nvSpPr>
        <p:spPr>
          <a:xfrm>
            <a:off x="1371600" y="2295525"/>
            <a:ext cx="9601200" cy="3571875"/>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90DA1C5C-7F2E-433D-875A-FFDEB82FA351}" type="datetime1">
              <a:rPr lang="fr-FR" noProof="0" smtClean="0"/>
              <a:t>17/05/2026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9596561" y="624156"/>
            <a:ext cx="1565766" cy="5243244"/>
          </a:xfrm>
        </p:spPr>
        <p:txBody>
          <a:bodyPr vert="eaVert" rtlCol="0"/>
          <a:lstStyle/>
          <a:p>
            <a:pPr rtl="0"/>
            <a:r>
              <a:rPr lang="en-US" noProof="0"/>
              <a:t>Click to edit Master title style</a:t>
            </a:r>
            <a:endParaRPr lang="fr-FR" noProof="0"/>
          </a:p>
        </p:txBody>
      </p:sp>
      <p:sp>
        <p:nvSpPr>
          <p:cNvPr id="3" name="Espace réservé du texte vertical 2"/>
          <p:cNvSpPr>
            <a:spLocks noGrp="1"/>
          </p:cNvSpPr>
          <p:nvPr>
            <p:ph type="body" orient="vert" idx="1" hasCustomPrompt="1"/>
          </p:nvPr>
        </p:nvSpPr>
        <p:spPr>
          <a:xfrm>
            <a:off x="1371600" y="624156"/>
            <a:ext cx="8179641" cy="5243244"/>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77D4B3E8-0B78-4EDB-B1B2-DDB7EDE35009}" type="datetime1">
              <a:rPr lang="fr-FR" noProof="0" smtClean="0"/>
              <a:t>17/05/2026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Espace réservé au titre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pPr rtl="0"/>
            <a:r>
              <a:rPr lang="fr-FR" noProof="0"/>
              <a:t>Modifiez le style du titre</a:t>
            </a:r>
          </a:p>
        </p:txBody>
      </p:sp>
      <p:sp>
        <p:nvSpPr>
          <p:cNvPr id="3" name="Espace réservé du texte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rtl="0"/>
            <a:fld id="{1608B52C-6477-4F49-96AF-2A2F509D9CC6}" type="datetime1">
              <a:rPr lang="fr-FR" noProof="0" smtClean="0"/>
              <a:t>17/05/2026</a:t>
            </a:fld>
            <a:endParaRPr lang="fr-FR" noProof="0"/>
          </a:p>
        </p:txBody>
      </p:sp>
      <p:sp>
        <p:nvSpPr>
          <p:cNvPr id="5" name="Espace réservé du pied de page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rtl="0"/>
            <a:endParaRPr lang="fr-FR" noProof="0"/>
          </a:p>
        </p:txBody>
      </p:sp>
      <p:sp>
        <p:nvSpPr>
          <p:cNvPr id="6" name="Espace réservé du numéro de diapositive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rtl="0"/>
            <a:fld id="{69E57DC2-970A-4B3E-BB1C-7A09969E49DF}" type="slidenum">
              <a:rPr lang="fr-FR" noProof="0" smtClean="0"/>
              <a:pPr rtl="0"/>
              <a:t>‹#›</a:t>
            </a:fld>
            <a:endParaRPr lang="fr-FR" noProof="0"/>
          </a:p>
        </p:txBody>
      </p:sp>
      <p:sp>
        <p:nvSpPr>
          <p:cNvPr id="9" name="Rectangle 8" title="Barre latérale"/>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jpg"/><Relationship Id="rId2" Type="http://schemas.openxmlformats.org/officeDocument/2006/relationships/image" Target="../media/image15.jpg"/><Relationship Id="rId1" Type="http://schemas.openxmlformats.org/officeDocument/2006/relationships/slideLayout" Target="../slideLayouts/slideLayout7.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eg"/></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5" name="Picture 49">
            <a:extLst>
              <a:ext uri="{FF2B5EF4-FFF2-40B4-BE49-F238E27FC236}">
                <a16:creationId xmlns:a16="http://schemas.microsoft.com/office/drawing/2014/main" id="{91918BB0-C50D-DA86-2B0F-7BA430EE3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5814" y="3157415"/>
            <a:ext cx="3876432" cy="232462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5FF1E78D-0239-DDD5-20E3-416A05CB374A}"/>
              </a:ext>
            </a:extLst>
          </p:cNvPr>
          <p:cNvGrpSpPr/>
          <p:nvPr/>
        </p:nvGrpSpPr>
        <p:grpSpPr>
          <a:xfrm>
            <a:off x="471584" y="-27939"/>
            <a:ext cx="5509481" cy="45719"/>
            <a:chOff x="0" y="0"/>
            <a:chExt cx="5981065" cy="18288"/>
          </a:xfrm>
        </p:grpSpPr>
        <p:sp>
          <p:nvSpPr>
            <p:cNvPr id="3" name="Shape 11825">
              <a:extLst>
                <a:ext uri="{FF2B5EF4-FFF2-40B4-BE49-F238E27FC236}">
                  <a16:creationId xmlns:a16="http://schemas.microsoft.com/office/drawing/2014/main" id="{92855DB2-DCC2-12CB-9AFE-FA88C8CDEFC0}"/>
                </a:ext>
              </a:extLst>
            </p:cNvPr>
            <p:cNvSpPr/>
            <p:nvPr/>
          </p:nvSpPr>
          <p:spPr>
            <a:xfrm>
              <a:off x="0" y="0"/>
              <a:ext cx="5981065" cy="18288"/>
            </a:xfrm>
            <a:custGeom>
              <a:avLst/>
              <a:gdLst/>
              <a:ahLst/>
              <a:cxnLst/>
              <a:rect l="0" t="0" r="0" b="0"/>
              <a:pathLst>
                <a:path w="5981065" h="18288">
                  <a:moveTo>
                    <a:pt x="0" y="0"/>
                  </a:moveTo>
                  <a:lnTo>
                    <a:pt x="5981065" y="0"/>
                  </a:lnTo>
                  <a:lnTo>
                    <a:pt x="5981065" y="18288"/>
                  </a:lnTo>
                  <a:lnTo>
                    <a:pt x="0" y="18288"/>
                  </a:lnTo>
                  <a:lnTo>
                    <a:pt x="0" y="0"/>
                  </a:lnTo>
                </a:path>
              </a:pathLst>
            </a:custGeom>
            <a:ln w="0" cap="flat">
              <a:miter lim="127000"/>
            </a:ln>
          </p:spPr>
          <p:style>
            <a:lnRef idx="0">
              <a:srgbClr val="000000">
                <a:alpha val="0"/>
              </a:srgbClr>
            </a:lnRef>
            <a:fillRef idx="1">
              <a:srgbClr val="8B0000"/>
            </a:fillRef>
            <a:effectRef idx="0">
              <a:scrgbClr r="0" g="0" b="0"/>
            </a:effectRef>
            <a:fontRef idx="none"/>
          </p:style>
          <p:txBody>
            <a:bodyPr/>
            <a:lstStyle/>
            <a:p>
              <a:endParaRPr lang="fr-BE"/>
            </a:p>
          </p:txBody>
        </p:sp>
      </p:grpSp>
      <p:grpSp>
        <p:nvGrpSpPr>
          <p:cNvPr id="4" name="Group 3">
            <a:extLst>
              <a:ext uri="{FF2B5EF4-FFF2-40B4-BE49-F238E27FC236}">
                <a16:creationId xmlns:a16="http://schemas.microsoft.com/office/drawing/2014/main" id="{6B180F67-7019-2071-157D-E97477DA3BDF}"/>
              </a:ext>
            </a:extLst>
          </p:cNvPr>
          <p:cNvGrpSpPr/>
          <p:nvPr/>
        </p:nvGrpSpPr>
        <p:grpSpPr>
          <a:xfrm>
            <a:off x="471584" y="-40004"/>
            <a:ext cx="5509481" cy="45719"/>
            <a:chOff x="0" y="0"/>
            <a:chExt cx="5981065" cy="6097"/>
          </a:xfrm>
        </p:grpSpPr>
        <p:sp>
          <p:nvSpPr>
            <p:cNvPr id="5" name="Shape 11827">
              <a:extLst>
                <a:ext uri="{FF2B5EF4-FFF2-40B4-BE49-F238E27FC236}">
                  <a16:creationId xmlns:a16="http://schemas.microsoft.com/office/drawing/2014/main" id="{18AEF55D-9509-1E6A-C8F5-BDBC4283A269}"/>
                </a:ext>
              </a:extLst>
            </p:cNvPr>
            <p:cNvSpPr/>
            <p:nvPr/>
          </p:nvSpPr>
          <p:spPr>
            <a:xfrm>
              <a:off x="0" y="0"/>
              <a:ext cx="5981065" cy="9144"/>
            </a:xfrm>
            <a:custGeom>
              <a:avLst/>
              <a:gdLst/>
              <a:ahLst/>
              <a:cxnLst/>
              <a:rect l="0" t="0" r="0" b="0"/>
              <a:pathLst>
                <a:path w="5981065" h="9144">
                  <a:moveTo>
                    <a:pt x="0" y="0"/>
                  </a:moveTo>
                  <a:lnTo>
                    <a:pt x="5981065" y="0"/>
                  </a:lnTo>
                  <a:lnTo>
                    <a:pt x="5981065" y="9144"/>
                  </a:lnTo>
                  <a:lnTo>
                    <a:pt x="0" y="9144"/>
                  </a:lnTo>
                  <a:lnTo>
                    <a:pt x="0" y="0"/>
                  </a:lnTo>
                </a:path>
              </a:pathLst>
            </a:custGeom>
            <a:ln w="0" cap="flat">
              <a:miter lim="127000"/>
            </a:ln>
          </p:spPr>
          <p:style>
            <a:lnRef idx="0">
              <a:srgbClr val="000000">
                <a:alpha val="0"/>
              </a:srgbClr>
            </a:lnRef>
            <a:fillRef idx="1">
              <a:srgbClr val="CCCCCC"/>
            </a:fillRef>
            <a:effectRef idx="0">
              <a:scrgbClr r="0" g="0" b="0"/>
            </a:effectRef>
            <a:fontRef idx="none"/>
          </p:style>
          <p:txBody>
            <a:bodyPr/>
            <a:lstStyle/>
            <a:p>
              <a:endParaRPr lang="fr-BE"/>
            </a:p>
          </p:txBody>
        </p:sp>
      </p:grpSp>
      <p:grpSp>
        <p:nvGrpSpPr>
          <p:cNvPr id="6" name="Group 5">
            <a:extLst>
              <a:ext uri="{FF2B5EF4-FFF2-40B4-BE49-F238E27FC236}">
                <a16:creationId xmlns:a16="http://schemas.microsoft.com/office/drawing/2014/main" id="{B8F35C81-C551-037F-0D44-5E4C66A9D9AF}"/>
              </a:ext>
            </a:extLst>
          </p:cNvPr>
          <p:cNvGrpSpPr/>
          <p:nvPr/>
        </p:nvGrpSpPr>
        <p:grpSpPr>
          <a:xfrm>
            <a:off x="471584" y="-40004"/>
            <a:ext cx="5509481" cy="45719"/>
            <a:chOff x="0" y="0"/>
            <a:chExt cx="5981065" cy="6096"/>
          </a:xfrm>
        </p:grpSpPr>
        <p:sp>
          <p:nvSpPr>
            <p:cNvPr id="7" name="Shape 11829">
              <a:extLst>
                <a:ext uri="{FF2B5EF4-FFF2-40B4-BE49-F238E27FC236}">
                  <a16:creationId xmlns:a16="http://schemas.microsoft.com/office/drawing/2014/main" id="{2B249DB5-32B2-A2E2-4AD8-4FF47A5391EB}"/>
                </a:ext>
              </a:extLst>
            </p:cNvPr>
            <p:cNvSpPr/>
            <p:nvPr/>
          </p:nvSpPr>
          <p:spPr>
            <a:xfrm>
              <a:off x="0" y="0"/>
              <a:ext cx="5981065" cy="9144"/>
            </a:xfrm>
            <a:custGeom>
              <a:avLst/>
              <a:gdLst/>
              <a:ahLst/>
              <a:cxnLst/>
              <a:rect l="0" t="0" r="0" b="0"/>
              <a:pathLst>
                <a:path w="5981065" h="9144">
                  <a:moveTo>
                    <a:pt x="0" y="0"/>
                  </a:moveTo>
                  <a:lnTo>
                    <a:pt x="5981065" y="0"/>
                  </a:lnTo>
                  <a:lnTo>
                    <a:pt x="5981065" y="9144"/>
                  </a:lnTo>
                  <a:lnTo>
                    <a:pt x="0" y="9144"/>
                  </a:lnTo>
                  <a:lnTo>
                    <a:pt x="0" y="0"/>
                  </a:lnTo>
                </a:path>
              </a:pathLst>
            </a:custGeom>
            <a:ln w="0" cap="flat">
              <a:miter lim="127000"/>
            </a:ln>
          </p:spPr>
          <p:style>
            <a:lnRef idx="0">
              <a:srgbClr val="000000">
                <a:alpha val="0"/>
              </a:srgbClr>
            </a:lnRef>
            <a:fillRef idx="1">
              <a:srgbClr val="CCCCCC"/>
            </a:fillRef>
            <a:effectRef idx="0">
              <a:scrgbClr r="0" g="0" b="0"/>
            </a:effectRef>
            <a:fontRef idx="none"/>
          </p:style>
          <p:txBody>
            <a:bodyPr/>
            <a:lstStyle/>
            <a:p>
              <a:endParaRPr lang="fr-BE"/>
            </a:p>
          </p:txBody>
        </p:sp>
      </p:grpSp>
      <p:sp>
        <p:nvSpPr>
          <p:cNvPr id="8" name="Rectangle 8">
            <a:extLst>
              <a:ext uri="{FF2B5EF4-FFF2-40B4-BE49-F238E27FC236}">
                <a16:creationId xmlns:a16="http://schemas.microsoft.com/office/drawing/2014/main" id="{15DF7791-268F-EEB7-4F6C-1D32DDE5DCC3}"/>
              </a:ext>
            </a:extLst>
          </p:cNvPr>
          <p:cNvSpPr>
            <a:spLocks noChangeArrowheads="1"/>
          </p:cNvSpPr>
          <p:nvPr/>
        </p:nvSpPr>
        <p:spPr bwMode="auto">
          <a:xfrm>
            <a:off x="719015" y="6734"/>
            <a:ext cx="11472985" cy="984885"/>
          </a:xfrm>
          <a:prstGeom prst="rect">
            <a:avLst/>
          </a:prstGeom>
          <a:solidFill>
            <a:srgbClr val="8B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BE" altLang="fr-FR" sz="1400" b="1" i="0" u="none" strike="noStrike" cap="none" normalizeH="0" baseline="0" dirty="0">
                <a:ln>
                  <a:noFill/>
                </a:ln>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INSTITUT UNIVERSITAIRE DES SCIENCES</a:t>
            </a:r>
            <a:r>
              <a:rPr kumimoji="0" lang="fr-BE" altLang="fr-FR" sz="1400" b="0" i="0" u="none" strike="noStrike" cap="none" normalizeH="0" baseline="0" dirty="0">
                <a:ln>
                  <a:noFill/>
                </a:ln>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BE" altLang="fr-FR" sz="1400" b="0" i="0" u="none" strike="noStrike" cap="none" normalizeH="0" baseline="0" dirty="0">
                <a:ln>
                  <a:noFill/>
                </a:ln>
                <a:solidFill>
                  <a:srgbClr val="F5C0C0"/>
                </a:solidFill>
                <a:effectLst/>
                <a:latin typeface="Times New Roman" panose="02020603050405020304" pitchFamily="18" charset="0"/>
                <a:ea typeface="Aptos" panose="020B0004020202020204" pitchFamily="34" charset="0"/>
                <a:cs typeface="Times New Roman" panose="02020603050405020304" pitchFamily="18" charset="0"/>
              </a:rPr>
              <a:t>IUS  </a:t>
            </a:r>
            <a:r>
              <a:rPr kumimoji="0" lang="fr-BE" altLang="fr-FR" sz="1400" b="0" i="0" u="none" strike="noStrike" cap="none" normalizeH="0" baseline="0" dirty="0">
                <a:ln>
                  <a:noFill/>
                </a:ln>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800" b="0" i="0" u="none" strike="noStrike" cap="none" normalizeH="0" baseline="0" dirty="0">
              <a:ln>
                <a:noFill/>
              </a:ln>
              <a:solidFill>
                <a:schemeClr val="tx1"/>
              </a:solidFill>
              <a:effectLst/>
              <a:latin typeface="Arial" panose="020B0604020202020204" pitchFamily="34" charset="0"/>
            </a:endParaRPr>
          </a:p>
        </p:txBody>
      </p:sp>
      <p:sp>
        <p:nvSpPr>
          <p:cNvPr id="9" name="Rectangle 9">
            <a:extLst>
              <a:ext uri="{FF2B5EF4-FFF2-40B4-BE49-F238E27FC236}">
                <a16:creationId xmlns:a16="http://schemas.microsoft.com/office/drawing/2014/main" id="{B21A4DBC-00B7-6119-4098-1DE86031C3C2}"/>
              </a:ext>
            </a:extLst>
          </p:cNvPr>
          <p:cNvSpPr>
            <a:spLocks noChangeArrowheads="1"/>
          </p:cNvSpPr>
          <p:nvPr/>
        </p:nvSpPr>
        <p:spPr bwMode="auto">
          <a:xfrm flipV="1">
            <a:off x="961292" y="1375965"/>
            <a:ext cx="1123070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800" b="0" i="0" u="none" strike="noStrike" cap="none" normalizeH="0" baseline="0">
              <a:ln>
                <a:noFill/>
              </a:ln>
              <a:solidFill>
                <a:schemeClr val="tx1"/>
              </a:solidFill>
              <a:effectLst/>
              <a:latin typeface="Arial" panose="020B0604020202020204" pitchFamily="34" charset="0"/>
            </a:endParaRPr>
          </a:p>
        </p:txBody>
      </p:sp>
      <p:sp>
        <p:nvSpPr>
          <p:cNvPr id="10" name="Rectangle 10">
            <a:extLst>
              <a:ext uri="{FF2B5EF4-FFF2-40B4-BE49-F238E27FC236}">
                <a16:creationId xmlns:a16="http://schemas.microsoft.com/office/drawing/2014/main" id="{8EDD4CC1-30D3-EBFB-E71B-1DB7B2B81934}"/>
              </a:ext>
            </a:extLst>
          </p:cNvPr>
          <p:cNvSpPr>
            <a:spLocks noChangeArrowheads="1"/>
          </p:cNvSpPr>
          <p:nvPr/>
        </p:nvSpPr>
        <p:spPr bwMode="auto">
          <a:xfrm>
            <a:off x="890954" y="2127990"/>
            <a:ext cx="592406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b="1" i="0" u="none" strike="noStrike" cap="none" normalizeH="0" baseline="0" dirty="0">
                <a:ln>
                  <a:noFill/>
                </a:ln>
                <a:solidFill>
                  <a:srgbClr val="1A1A1A"/>
                </a:solidFill>
                <a:effectLst/>
                <a:latin typeface="Times New Roman" panose="02020603050405020304" pitchFamily="18" charset="0"/>
                <a:ea typeface="Times New Roman" panose="02020603050405020304" pitchFamily="18" charset="0"/>
                <a:cs typeface="Times New Roman" panose="02020603050405020304" pitchFamily="18" charset="0"/>
              </a:rPr>
              <a:t>Projet 10 : </a:t>
            </a:r>
            <a:r>
              <a:rPr kumimoji="0" lang="fr-BE" altLang="fr-FR" sz="1600" b="1" i="0" u="none" strike="noStrike" cap="none" normalizeH="0" baseline="0" dirty="0">
                <a:ln>
                  <a:noFill/>
                </a:ln>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Audit de Sécurité avec Lynis</a:t>
            </a:r>
            <a:r>
              <a:rPr kumimoji="0" lang="fr-BE" altLang="fr-FR" sz="1600" b="0" i="0" u="none" strike="noStrike" cap="none" normalizeH="0" baseline="0" dirty="0">
                <a:ln>
                  <a:noFill/>
                </a:ln>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16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b="1" i="0" u="none" strike="noStrike" cap="none" normalizeH="0" baseline="0" dirty="0" err="1">
                <a:ln>
                  <a:noFill/>
                </a:ln>
                <a:solidFill>
                  <a:srgbClr val="1A1A1A"/>
                </a:solidFill>
                <a:effectLst/>
                <a:latin typeface="Times New Roman" panose="02020603050405020304" pitchFamily="18" charset="0"/>
                <a:ea typeface="Times New Roman" panose="02020603050405020304" pitchFamily="18" charset="0"/>
                <a:cs typeface="Times New Roman" panose="02020603050405020304" pitchFamily="18" charset="0"/>
              </a:rPr>
              <a:t>Prépar</a:t>
            </a:r>
            <a:r>
              <a:rPr kumimoji="0" lang="fr-CA" altLang="fr-FR" sz="1600" b="1" i="0" u="none" strike="noStrike" cap="none" normalizeH="0" baseline="0" dirty="0">
                <a:ln>
                  <a:noFill/>
                </a:ln>
                <a:solidFill>
                  <a:srgbClr val="1A1A1A"/>
                </a:solidFill>
                <a:effectLst/>
                <a:latin typeface="Times New Roman" panose="02020603050405020304" pitchFamily="18" charset="0"/>
                <a:ea typeface="Times New Roman" panose="02020603050405020304" pitchFamily="18" charset="0"/>
                <a:cs typeface="Times New Roman" panose="02020603050405020304" pitchFamily="18" charset="0"/>
              </a:rPr>
              <a:t>é</a:t>
            </a:r>
            <a:r>
              <a:rPr kumimoji="0" lang="fr-BE" altLang="fr-FR" sz="1600" b="1" i="0" u="none" strike="noStrike" cap="none" normalizeH="0" baseline="0" dirty="0">
                <a:ln>
                  <a:noFill/>
                </a:ln>
                <a:solidFill>
                  <a:srgbClr val="1A1A1A"/>
                </a:solidFill>
                <a:effectLst/>
                <a:latin typeface="Times New Roman" panose="02020603050405020304" pitchFamily="18" charset="0"/>
                <a:ea typeface="Times New Roman" panose="02020603050405020304" pitchFamily="18" charset="0"/>
                <a:cs typeface="Times New Roman" panose="02020603050405020304" pitchFamily="18" charset="0"/>
              </a:rPr>
              <a:t> par:  </a:t>
            </a:r>
            <a:r>
              <a:rPr kumimoji="0" lang="fr-BE" altLang="fr-FR" sz="1600" i="0" u="none" strike="noStrike" cap="none" normalizeH="0" baseline="0" dirty="0">
                <a:ln>
                  <a:noFill/>
                </a:ln>
                <a:solidFill>
                  <a:srgbClr val="1A1A1A"/>
                </a:solidFill>
                <a:effectLst/>
                <a:latin typeface="Times New Roman" panose="02020603050405020304" pitchFamily="18" charset="0"/>
                <a:ea typeface="Times New Roman" panose="02020603050405020304" pitchFamily="18" charset="0"/>
                <a:cs typeface="Times New Roman" panose="02020603050405020304" pitchFamily="18" charset="0"/>
              </a:rPr>
              <a:t>LOUIS Dochlie </a:t>
            </a:r>
            <a:endParaRPr kumimoji="0" lang="fr-BE" altLang="fr-FR"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i="0" u="none" strike="noStrike" cap="none" normalizeH="0" baseline="0" dirty="0">
                <a:ln>
                  <a:noFill/>
                </a:ln>
                <a:solidFill>
                  <a:srgbClr val="1A1A1A"/>
                </a:solidFill>
                <a:effectLst/>
                <a:latin typeface="Times New Roman" panose="02020603050405020304" pitchFamily="18" charset="0"/>
                <a:ea typeface="Times New Roman" panose="02020603050405020304" pitchFamily="18" charset="0"/>
                <a:cs typeface="Times New Roman" panose="02020603050405020304" pitchFamily="18" charset="0"/>
              </a:rPr>
              <a:t>	      ISIDORE Magdala</a:t>
            </a: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600" b="1" dirty="0">
              <a:solidFill>
                <a:srgbClr val="1A1A1A"/>
              </a:solidFill>
              <a:latin typeface="Times New Roman" panose="02020603050405020304" pitchFamily="18"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Sous la direction de : </a:t>
            </a:r>
            <a:r>
              <a:rPr kumimoji="0" lang="fr-BE" altLang="fr-FR" sz="16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Prof ISAMËL SAINT AMOUR </a:t>
            </a:r>
            <a:endParaRPr kumimoji="0" lang="fr-BE" altLang="fr-FR"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800" b="0" i="0" u="none" strike="noStrike" cap="none" normalizeH="0" baseline="0" dirty="0">
              <a:ln>
                <a:noFill/>
              </a:ln>
              <a:solidFill>
                <a:schemeClr val="tx1"/>
              </a:solidFill>
              <a:effectLst/>
              <a:latin typeface="Arial" panose="020B0604020202020204" pitchFamily="34" charset="0"/>
            </a:endParaRPr>
          </a:p>
        </p:txBody>
      </p:sp>
      <p:sp>
        <p:nvSpPr>
          <p:cNvPr id="11" name="Rectangle 11">
            <a:extLst>
              <a:ext uri="{FF2B5EF4-FFF2-40B4-BE49-F238E27FC236}">
                <a16:creationId xmlns:a16="http://schemas.microsoft.com/office/drawing/2014/main" id="{FEB72D16-D2C0-B755-3867-53E9DD4C7722}"/>
              </a:ext>
            </a:extLst>
          </p:cNvPr>
          <p:cNvSpPr>
            <a:spLocks noChangeArrowheads="1"/>
          </p:cNvSpPr>
          <p:nvPr/>
        </p:nvSpPr>
        <p:spPr bwMode="auto">
          <a:xfrm>
            <a:off x="1180124" y="3012040"/>
            <a:ext cx="3720122"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12">
            <a:extLst>
              <a:ext uri="{FF2B5EF4-FFF2-40B4-BE49-F238E27FC236}">
                <a16:creationId xmlns:a16="http://schemas.microsoft.com/office/drawing/2014/main" id="{4FB053A0-7E31-7064-3BE6-F0C82E9E0900}"/>
              </a:ext>
            </a:extLst>
          </p:cNvPr>
          <p:cNvSpPr>
            <a:spLocks noChangeArrowheads="1"/>
          </p:cNvSpPr>
          <p:nvPr/>
        </p:nvSpPr>
        <p:spPr bwMode="auto">
          <a:xfrm>
            <a:off x="8135814" y="147653"/>
            <a:ext cx="4134340"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sz="1200" b="1" dirty="0">
              <a:solidFill>
                <a:srgbClr val="333333"/>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200" b="1" i="0" u="none" strike="noStrike" cap="none" normalizeH="0" baseline="0" dirty="0">
              <a:ln>
                <a:noFill/>
              </a:ln>
              <a:solidFill>
                <a:srgbClr val="333333"/>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1"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Jacmel 2026</a:t>
            </a:r>
            <a:r>
              <a:rPr kumimoji="0" lang="fr-BE" altLang="fr-FR" sz="12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0727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DD70C11-1064-09C9-80C2-27856C73EF31}"/>
              </a:ext>
            </a:extLst>
          </p:cNvPr>
          <p:cNvSpPr txBox="1"/>
          <p:nvPr/>
        </p:nvSpPr>
        <p:spPr>
          <a:xfrm>
            <a:off x="1836821" y="433137"/>
            <a:ext cx="7307179" cy="5324535"/>
          </a:xfrm>
          <a:prstGeom prst="rect">
            <a:avLst/>
          </a:prstGeom>
          <a:noFill/>
        </p:spPr>
        <p:txBody>
          <a:bodyPr wrap="square">
            <a:spAutoFit/>
          </a:bodyPr>
          <a:lstStyle/>
          <a:p>
            <a:pPr marL="0" marR="0">
              <a:spcBef>
                <a:spcPts val="1800"/>
              </a:spcBef>
              <a:spcAft>
                <a:spcPts val="1000"/>
              </a:spcAft>
              <a:buNone/>
            </a:pPr>
            <a:r>
              <a:rPr lang="fr-BE" sz="2400" b="1" kern="0" dirty="0">
                <a:solidFill>
                  <a:srgbClr val="0070C0"/>
                </a:solidFill>
                <a:effectLst/>
                <a:latin typeface="Times New Roman" panose="02020603050405020304" pitchFamily="18" charset="0"/>
                <a:cs typeface="Times New Roman" panose="02020603050405020304" pitchFamily="18" charset="0"/>
              </a:rPr>
              <a:t>Table des matières</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LISTE DES ABRÉVIATIONS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Introduction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Objectifs du projet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   Objectif général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   Objectifs spécifiques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Problématique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Méthodologie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Outils et technologies utilisés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Description du projet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Résultats et analyse .................................................................  </a:t>
            </a:r>
          </a:p>
          <a:p>
            <a:pPr marL="0" marR="0">
              <a:spcBef>
                <a:spcPts val="400"/>
              </a:spcBef>
              <a:spcAft>
                <a:spcPts val="600"/>
              </a:spcAft>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Perspectives d'évolution du projet ...........................................  </a:t>
            </a:r>
          </a:p>
          <a:p>
            <a:pPr>
              <a:buNone/>
            </a:pPr>
            <a:r>
              <a:rPr lang="fr-BE" sz="1800" dirty="0">
                <a:effectLst/>
                <a:latin typeface="Times New Roman" panose="02020603050405020304" pitchFamily="18" charset="0"/>
                <a:ea typeface="Arial" panose="020B0604020202020204" pitchFamily="34" charset="0"/>
                <a:cs typeface="Times New Roman" panose="02020603050405020304" pitchFamily="18" charset="0"/>
              </a:rPr>
              <a:t>Conclusion ............................................................................... </a:t>
            </a:r>
            <a:endParaRPr lang="fr-B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0876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CE2993-8FC4-C105-04BF-88CE3288691B}"/>
              </a:ext>
            </a:extLst>
          </p:cNvPr>
          <p:cNvSpPr txBox="1"/>
          <p:nvPr/>
        </p:nvSpPr>
        <p:spPr>
          <a:xfrm>
            <a:off x="1724526" y="152399"/>
            <a:ext cx="7603958" cy="6831294"/>
          </a:xfrm>
          <a:prstGeom prst="rect">
            <a:avLst/>
          </a:prstGeom>
          <a:noFill/>
        </p:spPr>
        <p:txBody>
          <a:bodyPr wrap="square">
            <a:spAutoFit/>
          </a:bodyPr>
          <a:lstStyle/>
          <a:p>
            <a:pPr marL="0" marR="48895">
              <a:lnSpc>
                <a:spcPct val="115000"/>
              </a:lnSpc>
              <a:spcBef>
                <a:spcPts val="800"/>
              </a:spcBef>
              <a:spcAft>
                <a:spcPts val="905"/>
              </a:spcAft>
              <a:buNone/>
            </a:pPr>
            <a:r>
              <a:rPr lang="fr-BE" sz="2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LISTE DES ABRÉVIATIONS </a:t>
            </a:r>
          </a:p>
          <a:p>
            <a:pPr marL="0" marR="48895">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SSH: Secure Shell </a:t>
            </a: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IDS: Intrusion Detection System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AIDE: Advanced Intrusion Detection Environment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UFW: Uncomplicated Firewall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CVE: Common Vulnerabilities and Exposures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OS: Operating System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CLI: Command Line Interface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IP: Internet Protocol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SUID: Set User ID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SGID: Set Group ID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MàJ</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 Mise à jour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PAM : Pluggable Authentication Modules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NTP: Network Time Protocol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DNS: Domain Name System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48895">
              <a:lnSpc>
                <a:spcPct val="115000"/>
              </a:lnSpc>
              <a:spcAft>
                <a:spcPts val="715"/>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GUI : Graphical User Interface </a:t>
            </a: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8806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9D143A-EA4F-8E6F-0BB3-C1BCBF50EE72}"/>
              </a:ext>
            </a:extLst>
          </p:cNvPr>
          <p:cNvSpPr txBox="1"/>
          <p:nvPr/>
        </p:nvSpPr>
        <p:spPr>
          <a:xfrm>
            <a:off x="1243263" y="86707"/>
            <a:ext cx="8542421" cy="4972964"/>
          </a:xfrm>
          <a:prstGeom prst="rect">
            <a:avLst/>
          </a:prstGeom>
          <a:noFill/>
        </p:spPr>
        <p:txBody>
          <a:bodyPr wrap="square">
            <a:spAutoFit/>
          </a:bodyPr>
          <a:lstStyle/>
          <a:p>
            <a:pPr marL="0" marR="0">
              <a:lnSpc>
                <a:spcPct val="115000"/>
              </a:lnSpc>
              <a:spcBef>
                <a:spcPts val="1800"/>
              </a:spcBef>
              <a:spcAft>
                <a:spcPts val="835"/>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a:t>
            </a:r>
          </a:p>
          <a:p>
            <a:pPr marL="0" marR="48895">
              <a:lnSpc>
                <a:spcPct val="115000"/>
              </a:lnSpc>
              <a:spcAft>
                <a:spcPts val="800"/>
              </a:spcAft>
              <a:buNone/>
            </a:pPr>
            <a:r>
              <a:rPr lang="fr-BE" sz="2000" kern="100" dirty="0">
                <a:effectLst/>
                <a:latin typeface="Times New Roman" panose="02020603050405020304" pitchFamily="18" charset="0"/>
                <a:ea typeface="Aptos" panose="020B0004020202020204" pitchFamily="34" charset="0"/>
                <a:cs typeface="Times New Roman" panose="02020603050405020304" pitchFamily="18" charset="0"/>
              </a:rPr>
              <a:t>La sécurité des systèmes informatiques est un enjeu majeur dans le contexte actuel de cybersécurité. Les serveurs Linux, largement utilisés dans les environnements professionnels, sont souvent la cible d'attaques visant à exploiter des configurations par défaut insuffisamment sécurisées. </a:t>
            </a:r>
          </a:p>
          <a:p>
            <a:pPr marL="0" marR="48895">
              <a:lnSpc>
                <a:spcPct val="115000"/>
              </a:lnSpc>
              <a:spcAft>
                <a:spcPts val="800"/>
              </a:spcAft>
              <a:buNone/>
            </a:pPr>
            <a:r>
              <a:rPr lang="fr-BE" sz="2000" kern="100" dirty="0">
                <a:effectLst/>
                <a:latin typeface="Times New Roman" panose="02020603050405020304" pitchFamily="18" charset="0"/>
                <a:ea typeface="Aptos" panose="020B0004020202020204" pitchFamily="34" charset="0"/>
                <a:cs typeface="Times New Roman" panose="02020603050405020304" pitchFamily="18" charset="0"/>
              </a:rPr>
              <a:t>Dans ce cadre, ce projet consiste à réaliser un audit de sécurité complet d'un serveur Ubuntu en utilisant l'outil Lynis, un scanner de sécurité </a:t>
            </a:r>
            <a:r>
              <a:rPr lang="fr-BE" sz="2000" kern="100" dirty="0" err="1">
                <a:effectLst/>
                <a:latin typeface="Times New Roman" panose="02020603050405020304" pitchFamily="18" charset="0"/>
                <a:ea typeface="Aptos" panose="020B0004020202020204" pitchFamily="34" charset="0"/>
                <a:cs typeface="Times New Roman" panose="02020603050405020304" pitchFamily="18" charset="0"/>
              </a:rPr>
              <a:t>opensource</a:t>
            </a:r>
            <a:r>
              <a:rPr lang="fr-BE" sz="2000" kern="100" dirty="0">
                <a:effectLst/>
                <a:latin typeface="Times New Roman" panose="02020603050405020304" pitchFamily="18" charset="0"/>
                <a:ea typeface="Aptos" panose="020B0004020202020204" pitchFamily="34" charset="0"/>
                <a:cs typeface="Times New Roman" panose="02020603050405020304" pitchFamily="18" charset="0"/>
              </a:rPr>
              <a:t> pour les systèmes UNIX. L'objectif est d'identifier les vulnérabilités, d'appliquer des mesures de durcissement (</a:t>
            </a:r>
            <a:r>
              <a:rPr lang="fr-BE" sz="20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2000" kern="100" dirty="0">
                <a:effectLst/>
                <a:latin typeface="Times New Roman" panose="02020603050405020304" pitchFamily="18" charset="0"/>
                <a:ea typeface="Aptos" panose="020B0004020202020204" pitchFamily="34" charset="0"/>
                <a:cs typeface="Times New Roman" panose="02020603050405020304" pitchFamily="18" charset="0"/>
              </a:rPr>
              <a:t>), puis de mesurer l'amélioration obtenue grâce à un second audit comparatif. </a:t>
            </a:r>
          </a:p>
          <a:p>
            <a:pPr marL="0" marR="48895">
              <a:lnSpc>
                <a:spcPct val="115000"/>
              </a:lnSpc>
              <a:spcAft>
                <a:spcPts val="725"/>
              </a:spcAft>
              <a:buNone/>
            </a:pPr>
            <a:r>
              <a:rPr lang="fr-BE" sz="2000" kern="100" dirty="0">
                <a:effectLst/>
                <a:latin typeface="Times New Roman" panose="02020603050405020304" pitchFamily="18" charset="0"/>
                <a:ea typeface="Aptos" panose="020B0004020202020204" pitchFamily="34" charset="0"/>
                <a:cs typeface="Times New Roman" panose="02020603050405020304" pitchFamily="18" charset="0"/>
              </a:rPr>
              <a:t>Le projet couvre l'ensemble du cycle d'audit : installation de Lynis, analyse des recommandations, application des correctifs (firewall, IDS, permissions, mises à jour automatiques), et comparaison des scores avant/après les améliorations. </a:t>
            </a:r>
          </a:p>
        </p:txBody>
      </p:sp>
    </p:spTree>
    <p:extLst>
      <p:ext uri="{BB962C8B-B14F-4D97-AF65-F5344CB8AC3E}">
        <p14:creationId xmlns:p14="http://schemas.microsoft.com/office/powerpoint/2010/main" val="3548692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46D275-99FA-F6D5-1899-34D9A08528DD}"/>
              </a:ext>
            </a:extLst>
          </p:cNvPr>
          <p:cNvSpPr txBox="1"/>
          <p:nvPr/>
        </p:nvSpPr>
        <p:spPr>
          <a:xfrm>
            <a:off x="826168" y="13963"/>
            <a:ext cx="8317832" cy="5336974"/>
          </a:xfrm>
          <a:prstGeom prst="rect">
            <a:avLst/>
          </a:prstGeom>
          <a:noFill/>
        </p:spPr>
        <p:txBody>
          <a:bodyPr wrap="square">
            <a:spAutoFit/>
          </a:bodyPr>
          <a:lstStyle/>
          <a:p>
            <a:pPr marL="0" marR="0">
              <a:lnSpc>
                <a:spcPct val="115000"/>
              </a:lnSpc>
              <a:spcBef>
                <a:spcPts val="1800"/>
              </a:spcBef>
              <a:spcAft>
                <a:spcPts val="400"/>
              </a:spcAft>
              <a:buNone/>
            </a:pPr>
            <a:r>
              <a:rPr lang="fr-BE" sz="32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Objectifs du projet </a:t>
            </a:r>
          </a:p>
          <a:p>
            <a:pPr marL="0" marR="0">
              <a:lnSpc>
                <a:spcPct val="107000"/>
              </a:lnSpc>
              <a:spcBef>
                <a:spcPts val="800"/>
              </a:spcBef>
              <a:spcAft>
                <a:spcPts val="445"/>
              </a:spcAft>
              <a:buNone/>
            </a:pPr>
            <a:r>
              <a:rPr lang="fr-BE" sz="2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Objectif général </a:t>
            </a:r>
          </a:p>
          <a:p>
            <a:pPr marL="0" marR="48895">
              <a:lnSpc>
                <a:spcPct val="115000"/>
              </a:lnSpc>
              <a:spcAft>
                <a:spcPts val="94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L'objectif principal de ce projet est d'auditer et de renforcer la sécurité d'un serveur Ubuntu en utilisant Lynis, afin d'identifier les failles de configuration, d'appliquer des mesures correctives et de mesurer l'amélioration du niveau de sécurité. </a:t>
            </a:r>
          </a:p>
          <a:p>
            <a:pPr marL="0" marR="0">
              <a:lnSpc>
                <a:spcPct val="107000"/>
              </a:lnSpc>
              <a:spcBef>
                <a:spcPts val="800"/>
              </a:spcBef>
              <a:spcAft>
                <a:spcPts val="445"/>
              </a:spcAft>
              <a:buNone/>
            </a:pPr>
            <a:r>
              <a:rPr lang="fr-BE" sz="2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Objectifs spécifiques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Effectuer un scan de sécurité complet du serveur avec Lynis </a:t>
            </a:r>
          </a:p>
          <a:p>
            <a:pPr marL="342900" marR="48895" lvl="0" indent="-342900" algn="just" fontAlgn="base">
              <a:lnSpc>
                <a:spcPct val="103000"/>
              </a:lnSpc>
              <a:spcAft>
                <a:spcPts val="27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Analyser et interpréter les recommandations générées par l'outil </a:t>
            </a:r>
          </a:p>
          <a:p>
            <a:pPr marL="342900" marR="48895" lvl="0" indent="-342900" algn="just" fontAlgn="base">
              <a:lnSpc>
                <a:spcPct val="103000"/>
              </a:lnSpc>
              <a:spcAft>
                <a:spcPts val="28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Appliquer des mesures de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 configuration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sysctl</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désactivation de services inutiles, correction des permissions </a:t>
            </a:r>
          </a:p>
          <a:p>
            <a:pPr marL="342900" marR="48895" lvl="0" indent="-342900" algn="just" fontAlgn="base">
              <a:lnSpc>
                <a:spcPct val="103000"/>
              </a:lnSpc>
              <a:spcAft>
                <a:spcPts val="28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Installer et configurer un pare-feu (UFW) et un système de détection d'intrusion (AIDE)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Activer les mises à jour automatiques de sécurité </a:t>
            </a:r>
          </a:p>
          <a:p>
            <a:pPr marL="342900" marR="48895" lvl="0" indent="-342900" algn="just" fontAlgn="base">
              <a:lnSpc>
                <a:spcPct val="103000"/>
              </a:lnSpc>
              <a:spcAft>
                <a:spcPts val="90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Relancer l'audit et comparer le score avant/après les améliorations </a:t>
            </a:r>
          </a:p>
        </p:txBody>
      </p:sp>
    </p:spTree>
    <p:extLst>
      <p:ext uri="{BB962C8B-B14F-4D97-AF65-F5344CB8AC3E}">
        <p14:creationId xmlns:p14="http://schemas.microsoft.com/office/powerpoint/2010/main" val="902661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AF9B75-DA96-5A9B-24FC-4199450D87D3}"/>
              </a:ext>
            </a:extLst>
          </p:cNvPr>
          <p:cNvSpPr txBox="1"/>
          <p:nvPr/>
        </p:nvSpPr>
        <p:spPr>
          <a:xfrm>
            <a:off x="898358" y="272716"/>
            <a:ext cx="8245642" cy="3771353"/>
          </a:xfrm>
          <a:prstGeom prst="rect">
            <a:avLst/>
          </a:prstGeom>
          <a:noFill/>
        </p:spPr>
        <p:txBody>
          <a:bodyPr wrap="square">
            <a:spAutoFit/>
          </a:bodyPr>
          <a:lstStyle/>
          <a:p>
            <a:pPr marL="234950" marR="48895" algn="just">
              <a:lnSpc>
                <a:spcPct val="103000"/>
              </a:lnSpc>
              <a:spcBef>
                <a:spcPts val="1800"/>
              </a:spcBef>
              <a:spcAft>
                <a:spcPts val="905"/>
              </a:spcAft>
              <a:buNone/>
            </a:pPr>
            <a:r>
              <a:rPr lang="fr-BE" sz="32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Problématique </a:t>
            </a:r>
          </a:p>
          <a:p>
            <a:pPr marL="0" marR="48895">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Les serveurs Linux en production présentent fréquemment des configurations par défaut insuffisamment sécurisées : services inutiles actifs, permissions trop permissives, absence de pare-feu, pas de système de détection d'intrusion, mises à jour non automatisées. </a:t>
            </a:r>
          </a:p>
          <a:p>
            <a:pPr marL="0" marR="48895">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Dans ce contexte, la problématique de ce projet peut être formulée comme suit : </a:t>
            </a:r>
          </a:p>
          <a:p>
            <a:pPr marL="0" marR="48895">
              <a:lnSpc>
                <a:spcPct val="115000"/>
              </a:lnSpc>
              <a:spcAft>
                <a:spcPts val="725"/>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Comment auditer efficacement la posture de sécurité d'un serveur Ubuntu à l'aide de Lynis, identifier ses vulnérabilités, appliquer des mesures de durcissement adaptées, et mesurer l'amélioration du niveau de sécurité obtenu grâce à une comparaison de scores avant et après le </a:t>
            </a:r>
            <a:r>
              <a:rPr lang="fr-BE" sz="18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 </a:t>
            </a:r>
          </a:p>
        </p:txBody>
      </p:sp>
    </p:spTree>
    <p:extLst>
      <p:ext uri="{BB962C8B-B14F-4D97-AF65-F5344CB8AC3E}">
        <p14:creationId xmlns:p14="http://schemas.microsoft.com/office/powerpoint/2010/main" val="149124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8E29D3-9B40-C36C-6AD4-A2AB17A41B32}"/>
              </a:ext>
            </a:extLst>
          </p:cNvPr>
          <p:cNvSpPr txBox="1"/>
          <p:nvPr/>
        </p:nvSpPr>
        <p:spPr>
          <a:xfrm>
            <a:off x="802106" y="88232"/>
            <a:ext cx="7980948" cy="6484980"/>
          </a:xfrm>
          <a:prstGeom prst="rect">
            <a:avLst/>
          </a:prstGeom>
          <a:noFill/>
        </p:spPr>
        <p:txBody>
          <a:bodyPr wrap="square">
            <a:spAutoFit/>
          </a:bodyPr>
          <a:lstStyle/>
          <a:p>
            <a:pPr marL="0" marR="0">
              <a:lnSpc>
                <a:spcPct val="115000"/>
              </a:lnSpc>
              <a:spcBef>
                <a:spcPts val="800"/>
              </a:spcBef>
              <a:spcAft>
                <a:spcPts val="835"/>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Méthodologie </a:t>
            </a:r>
          </a:p>
          <a:p>
            <a:pPr marL="0" marR="48895">
              <a:lnSpc>
                <a:spcPct val="115000"/>
              </a:lnSpc>
              <a:spcAft>
                <a:spcPts val="940"/>
              </a:spcAft>
              <a:buNone/>
            </a:pPr>
            <a:r>
              <a:rPr lang="fr-BE" sz="1800" kern="100" dirty="0">
                <a:effectLst/>
                <a:latin typeface="Aptos" panose="020B0004020202020204" pitchFamily="34" charset="0"/>
                <a:ea typeface="Aptos" panose="020B0004020202020204" pitchFamily="34" charset="0"/>
                <a:cs typeface="Times New Roman" panose="02020603050405020304" pitchFamily="18" charset="0"/>
              </a:rPr>
              <a:t>La méthodologie adoptée pour ce projet suit une approche structurée en plusieurs phases : </a:t>
            </a:r>
          </a:p>
          <a:p>
            <a:pPr marL="0" marR="0">
              <a:lnSpc>
                <a:spcPct val="115000"/>
              </a:lnSpc>
              <a:spcBef>
                <a:spcPts val="800"/>
              </a:spcBef>
              <a:spcAft>
                <a:spcPts val="400"/>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1. Préparation de l'environnement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Installation et mise à jour du système Ubuntu </a:t>
            </a:r>
          </a:p>
          <a:p>
            <a:pPr marL="342900" marR="48895" lvl="0" indent="-342900" algn="just" fontAlgn="base">
              <a:lnSpc>
                <a:spcPct val="103000"/>
              </a:lnSpc>
              <a:spcAft>
                <a:spcPts val="27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Installation de l'outil Lynis via le gestionnaire de paquets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apt</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marL="342900" marR="48895" lvl="0" indent="-342900" algn="just" fontAlgn="base">
              <a:lnSpc>
                <a:spcPct val="103000"/>
              </a:lnSpc>
              <a:spcAft>
                <a:spcPts val="920"/>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Vérification de la version installée </a:t>
            </a:r>
          </a:p>
          <a:p>
            <a:pPr marL="0" marR="0">
              <a:lnSpc>
                <a:spcPct val="115000"/>
              </a:lnSpc>
              <a:spcBef>
                <a:spcPts val="800"/>
              </a:spcBef>
              <a:spcAft>
                <a:spcPts val="400"/>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2. Audit initial </a:t>
            </a:r>
          </a:p>
          <a:p>
            <a:pPr marL="342900" marR="48895" lvl="0" indent="-342900" algn="just" fontAlgn="base">
              <a:lnSpc>
                <a:spcPct val="103000"/>
              </a:lnSpc>
              <a:spcAft>
                <a:spcPts val="28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Lancement d'un scan complet avec la commande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sudo</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lynis</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audit system </a:t>
            </a:r>
          </a:p>
          <a:p>
            <a:pPr marL="342900" marR="48895" lvl="0" indent="-342900" algn="just" fontAlgn="base">
              <a:lnSpc>
                <a:spcPct val="103000"/>
              </a:lnSpc>
              <a:spcAft>
                <a:spcPts val="27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Collecte du score de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initial </a:t>
            </a:r>
          </a:p>
          <a:p>
            <a:pPr marL="342900" marR="48895" lvl="0" indent="-342900" algn="just" fontAlgn="base">
              <a:lnSpc>
                <a:spcPct val="103000"/>
              </a:lnSpc>
              <a:spcAft>
                <a:spcPts val="91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Analyse détaillée des recommandations et avertissements </a:t>
            </a:r>
          </a:p>
          <a:p>
            <a:pPr marL="0" marR="0">
              <a:lnSpc>
                <a:spcPct val="115000"/>
              </a:lnSpc>
              <a:spcBef>
                <a:spcPts val="800"/>
              </a:spcBef>
              <a:spcAft>
                <a:spcPts val="400"/>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3. </a:t>
            </a:r>
            <a:r>
              <a:rPr lang="fr-BE" sz="2000" b="1" kern="100" dirty="0" err="1">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Hardening</a:t>
            </a: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 du serveur </a:t>
            </a:r>
          </a:p>
          <a:p>
            <a:pPr marL="342900" marR="48895" lvl="0" indent="-342900" algn="just" fontAlgn="base">
              <a:lnSpc>
                <a:spcPct val="103000"/>
              </a:lnSpc>
              <a:spcAft>
                <a:spcPts val="27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Installation et configuration d'un pare-feu UFW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Installation d'un IDS (AIDE) et initialisation de la base de données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Activation des mises à jour automatiques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unattended</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-upgrades) </a:t>
            </a:r>
          </a:p>
          <a:p>
            <a:pPr marL="342900" marR="48895" lvl="0" indent="-342900" algn="just" fontAlgn="base">
              <a:lnSpc>
                <a:spcPct val="103000"/>
              </a:lnSpc>
              <a:spcAft>
                <a:spcPts val="28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Correction des permissions des fichiers sensibles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etc</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shadow</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dossier SSH) </a:t>
            </a:r>
          </a:p>
          <a:p>
            <a:pPr marL="342900" marR="48895" lvl="0" indent="-342900" algn="just" fontAlgn="base">
              <a:lnSpc>
                <a:spcPct val="103000"/>
              </a:lnSpc>
              <a:spcAft>
                <a:spcPts val="91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Configuration de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logrotate</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pour la gestion des logs </a:t>
            </a:r>
          </a:p>
        </p:txBody>
      </p:sp>
    </p:spTree>
    <p:extLst>
      <p:ext uri="{BB962C8B-B14F-4D97-AF65-F5344CB8AC3E}">
        <p14:creationId xmlns:p14="http://schemas.microsoft.com/office/powerpoint/2010/main" val="3982521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A6287A-BB55-5F64-F9C5-253F5EC7082C}"/>
              </a:ext>
            </a:extLst>
          </p:cNvPr>
          <p:cNvSpPr txBox="1"/>
          <p:nvPr/>
        </p:nvSpPr>
        <p:spPr>
          <a:xfrm>
            <a:off x="906379" y="152400"/>
            <a:ext cx="8237621" cy="6271332"/>
          </a:xfrm>
          <a:prstGeom prst="rect">
            <a:avLst/>
          </a:prstGeom>
          <a:noFill/>
        </p:spPr>
        <p:txBody>
          <a:bodyPr wrap="square">
            <a:spAutoFit/>
          </a:bodyPr>
          <a:lstStyle/>
          <a:p>
            <a:pPr marL="0" marR="0">
              <a:lnSpc>
                <a:spcPct val="115000"/>
              </a:lnSpc>
              <a:spcBef>
                <a:spcPts val="800"/>
              </a:spcBef>
              <a:spcAft>
                <a:spcPts val="400"/>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4. Audit final et comparaison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Relancement du scan Lynis après les améliorations </a:t>
            </a:r>
          </a:p>
          <a:p>
            <a:pPr marL="342900" marR="48895" lvl="0" indent="-342900" algn="just" fontAlgn="base">
              <a:lnSpc>
                <a:spcPct val="103000"/>
              </a:lnSpc>
              <a:spcAft>
                <a:spcPts val="280"/>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Comparaison du score avant et après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marL="342900" marR="48895" lvl="0" indent="-342900" algn="just" fontAlgn="base">
              <a:lnSpc>
                <a:spcPct val="103000"/>
              </a:lnSpc>
              <a:spcAft>
                <a:spcPts val="40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Analyse des résultats et rédaction du rapport </a:t>
            </a:r>
          </a:p>
          <a:p>
            <a:pPr marL="0" marR="0">
              <a:lnSpc>
                <a:spcPct val="107000"/>
              </a:lnSpc>
              <a:spcAft>
                <a:spcPts val="800"/>
              </a:spcAft>
              <a:buNone/>
            </a:pPr>
            <a:r>
              <a:rPr lang="fr-BE"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800"/>
              </a:spcBef>
              <a:spcAft>
                <a:spcPts val="400"/>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Outils et technologies utilisés 1. Outil d'audit de sécurité </a:t>
            </a:r>
          </a:p>
          <a:p>
            <a:pPr marL="0" marR="48895">
              <a:lnSpc>
                <a:spcPct val="115000"/>
              </a:lnSpc>
              <a:spcAft>
                <a:spcPts val="940"/>
              </a:spcAft>
              <a:buNone/>
            </a:pPr>
            <a:r>
              <a:rPr lang="fr-BE" sz="1800" kern="100" dirty="0">
                <a:effectLst/>
                <a:latin typeface="Aptos" panose="020B0004020202020204" pitchFamily="34" charset="0"/>
                <a:ea typeface="Aptos" panose="020B0004020202020204" pitchFamily="34" charset="0"/>
                <a:cs typeface="Times New Roman" panose="02020603050405020304" pitchFamily="18" charset="0"/>
              </a:rPr>
              <a:t>Lynis (version 3.0.9) : Scanner de sécurité open-source pour systèmes UNIX/Linux. Il effectue des centaines de tests automatiques couvrant la configuration du système, les services réseau, les permissions de fichiers, l'authentification, les mises à jour et bien d'autres aspects de la sécurité. </a:t>
            </a:r>
          </a:p>
          <a:p>
            <a:pPr marL="0" marR="0">
              <a:lnSpc>
                <a:spcPct val="115000"/>
              </a:lnSpc>
              <a:spcBef>
                <a:spcPts val="800"/>
              </a:spcBef>
              <a:spcAft>
                <a:spcPts val="400"/>
              </a:spcAft>
              <a:buNone/>
            </a:pPr>
            <a:r>
              <a:rPr lang="fr-BE" sz="2000" b="1" kern="100" dirty="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2. Outils de sécurité installés </a:t>
            </a:r>
          </a:p>
          <a:p>
            <a:pPr marL="342900" marR="48895" lvl="0" indent="-342900" algn="just" fontAlgn="base">
              <a:lnSpc>
                <a:spcPct val="103000"/>
              </a:lnSpc>
              <a:spcAft>
                <a:spcPts val="29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UFW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Uncomplicated</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Firewall) : Pare-feu simplifié pour Linux, permettant de contrôler le trafic réseau entrant et sortant </a:t>
            </a:r>
          </a:p>
          <a:p>
            <a:pPr lvl="0" fontAlgn="base"/>
            <a:r>
              <a:rPr lang="fr-BE" dirty="0">
                <a:latin typeface="Times New Roman" panose="02020603050405020304" pitchFamily="18" charset="0"/>
                <a:cs typeface="Times New Roman" panose="02020603050405020304" pitchFamily="18" charset="0"/>
              </a:rPr>
              <a:t>AIDE (Advanced Intrusion </a:t>
            </a:r>
            <a:r>
              <a:rPr lang="fr-BE" dirty="0" err="1">
                <a:latin typeface="Times New Roman" panose="02020603050405020304" pitchFamily="18" charset="0"/>
                <a:cs typeface="Times New Roman" panose="02020603050405020304" pitchFamily="18" charset="0"/>
              </a:rPr>
              <a:t>Detection</a:t>
            </a:r>
            <a:r>
              <a:rPr lang="fr-BE" dirty="0">
                <a:latin typeface="Times New Roman" panose="02020603050405020304" pitchFamily="18" charset="0"/>
                <a:cs typeface="Times New Roman" panose="02020603050405020304" pitchFamily="18" charset="0"/>
              </a:rPr>
              <a:t> </a:t>
            </a:r>
            <a:r>
              <a:rPr lang="fr-BE" dirty="0" err="1">
                <a:latin typeface="Times New Roman" panose="02020603050405020304" pitchFamily="18" charset="0"/>
                <a:cs typeface="Times New Roman" panose="02020603050405020304" pitchFamily="18" charset="0"/>
              </a:rPr>
              <a:t>Environment</a:t>
            </a:r>
            <a:r>
              <a:rPr lang="fr-BE" dirty="0">
                <a:latin typeface="Times New Roman" panose="02020603050405020304" pitchFamily="18" charset="0"/>
                <a:cs typeface="Times New Roman" panose="02020603050405020304" pitchFamily="18" charset="0"/>
              </a:rPr>
              <a:t>) : Système de détection d'intrusion basé sur l'intégrité des fichiers </a:t>
            </a:r>
          </a:p>
          <a:p>
            <a:pPr lvl="0" fontAlgn="base"/>
            <a:r>
              <a:rPr lang="fr-BE" dirty="0" err="1">
                <a:latin typeface="Times New Roman" panose="02020603050405020304" pitchFamily="18" charset="0"/>
                <a:cs typeface="Times New Roman" panose="02020603050405020304" pitchFamily="18" charset="0"/>
              </a:rPr>
              <a:t>unattended</a:t>
            </a:r>
            <a:r>
              <a:rPr lang="fr-BE" dirty="0">
                <a:latin typeface="Times New Roman" panose="02020603050405020304" pitchFamily="18" charset="0"/>
                <a:cs typeface="Times New Roman" panose="02020603050405020304" pitchFamily="18" charset="0"/>
              </a:rPr>
              <a:t>-upgrades : Outil d'automatisation des mises à jour de sécurité sous Ubuntu </a:t>
            </a:r>
          </a:p>
          <a:p>
            <a:pPr lvl="0" fontAlgn="base"/>
            <a:r>
              <a:rPr lang="fr-BE" dirty="0" err="1">
                <a:latin typeface="Times New Roman" panose="02020603050405020304" pitchFamily="18" charset="0"/>
                <a:cs typeface="Times New Roman" panose="02020603050405020304" pitchFamily="18" charset="0"/>
              </a:rPr>
              <a:t>logrotate</a:t>
            </a:r>
            <a:r>
              <a:rPr lang="fr-BE" dirty="0">
                <a:latin typeface="Times New Roman" panose="02020603050405020304" pitchFamily="18" charset="0"/>
                <a:cs typeface="Times New Roman" panose="02020603050405020304" pitchFamily="18" charset="0"/>
              </a:rPr>
              <a:t> : Outil de gestion de la rotation des fichiers journaux </a:t>
            </a:r>
          </a:p>
          <a:p>
            <a:pPr marL="342900" marR="48895" lvl="0" indent="-342900" algn="just" fontAlgn="base">
              <a:lnSpc>
                <a:spcPct val="103000"/>
              </a:lnSpc>
              <a:spcAft>
                <a:spcPts val="295"/>
              </a:spcAft>
              <a:buClr>
                <a:srgbClr val="000000"/>
              </a:buClr>
              <a:buSzPts val="1600"/>
              <a:buFont typeface="Arial" panose="020B0604020202020204" pitchFamily="34" charset="0"/>
              <a:buChar char="•"/>
            </a:pPr>
            <a:endPar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330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BA3DF6-C0AF-7F47-FD9D-618C9F98AEF1}"/>
              </a:ext>
            </a:extLst>
          </p:cNvPr>
          <p:cNvSpPr txBox="1"/>
          <p:nvPr/>
        </p:nvSpPr>
        <p:spPr>
          <a:xfrm>
            <a:off x="1965158" y="625642"/>
            <a:ext cx="7178842" cy="1698670"/>
          </a:xfrm>
          <a:prstGeom prst="rect">
            <a:avLst/>
          </a:prstGeom>
          <a:noFill/>
        </p:spPr>
        <p:txBody>
          <a:bodyPr wrap="square">
            <a:spAutoFit/>
          </a:bodyPr>
          <a:lstStyle/>
          <a:p>
            <a:pPr marL="0" marR="0">
              <a:lnSpc>
                <a:spcPct val="115000"/>
              </a:lnSpc>
              <a:spcBef>
                <a:spcPts val="800"/>
              </a:spcBef>
              <a:spcAft>
                <a:spcPts val="400"/>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Environnement technique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Système d'exploitation : Ubuntu Server </a:t>
            </a:r>
          </a:p>
          <a:p>
            <a:pPr marL="342900" marR="48895" lvl="0" indent="-342900" algn="just" fontAlgn="base">
              <a:lnSpc>
                <a:spcPct val="103000"/>
              </a:lnSpc>
              <a:spcAft>
                <a:spcPts val="26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Interface : Terminal (CLI) </a:t>
            </a:r>
          </a:p>
          <a:p>
            <a:pPr marL="342900" marR="48895" lvl="0" indent="-342900" algn="just" fontAlgn="base">
              <a:lnSpc>
                <a:spcPct val="103000"/>
              </a:lnSpc>
              <a:spcAft>
                <a:spcPts val="905"/>
              </a:spcAft>
              <a:buClr>
                <a:srgbClr val="000000"/>
              </a:buClr>
              <a:buSzPts val="1600"/>
              <a:buFont typeface="Arial" panose="020B0604020202020204" pitchFamily="34" charset="0"/>
              <a:buChar char="•"/>
            </a:pP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Commandes principales :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sudo</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apt</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chmod,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lynis</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fr-BE" sz="1800" u="none" strike="noStrike" kern="100" dirty="0" err="1">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ufw</a:t>
            </a:r>
            <a:r>
              <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aide </a:t>
            </a:r>
            <a:r>
              <a:rPr lang="fr-BE" sz="1800" b="1"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Description du projet </a:t>
            </a:r>
            <a:endParaRPr lang="fr-BE" sz="1800" u="none" strike="noStrike" kern="100"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400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8652E9-8A9F-8988-AA87-527A52E126BB}"/>
              </a:ext>
            </a:extLst>
          </p:cNvPr>
          <p:cNvSpPr txBox="1"/>
          <p:nvPr/>
        </p:nvSpPr>
        <p:spPr>
          <a:xfrm>
            <a:off x="850232" y="112294"/>
            <a:ext cx="8293768" cy="6668685"/>
          </a:xfrm>
          <a:prstGeom prst="rect">
            <a:avLst/>
          </a:prstGeom>
          <a:noFill/>
        </p:spPr>
        <p:txBody>
          <a:bodyPr wrap="square">
            <a:spAutoFit/>
          </a:bodyPr>
          <a:lstStyle/>
          <a:p>
            <a:pPr marL="0" marR="0">
              <a:lnSpc>
                <a:spcPct val="115000"/>
              </a:lnSpc>
              <a:spcBef>
                <a:spcPts val="800"/>
              </a:spcBef>
              <a:spcAft>
                <a:spcPts val="400"/>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Projet 10 : Audit de Sécurité avec Lynis </a:t>
            </a:r>
          </a:p>
          <a:p>
            <a:pPr marL="0" marR="48895">
              <a:lnSpc>
                <a:spcPct val="115000"/>
              </a:lnSpc>
              <a:spcAft>
                <a:spcPts val="95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Ce projet consiste à réaliser un audit de sécurité complet d'un serveur Ubuntu en quatre grandes étapes : l'installation et l'utilisation de Lynis pour un scan initial, l'analyse des recommandations, l'application de mesures de </a:t>
            </a:r>
            <a:r>
              <a:rPr lang="fr-BE" sz="18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et la comparaison du niveau de sécurité avant et après les améliorations. </a:t>
            </a:r>
          </a:p>
          <a:p>
            <a:pPr marL="0" marR="0">
              <a:lnSpc>
                <a:spcPct val="115000"/>
              </a:lnSpc>
              <a:spcBef>
                <a:spcPts val="800"/>
              </a:spcBef>
              <a:spcAft>
                <a:spcPts val="235"/>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Organisation du projet Phase 1 – Scan complet avec Lynis </a:t>
            </a:r>
          </a:p>
          <a:p>
            <a:pPr marL="0" marR="48895">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Installation de Lynis et réalisation d'un audit complet du serveur. Le scan génère un rapport détaillé identifiant les points faibles et les recommandations d'amélioration, ainsi qu'un indice de </a:t>
            </a:r>
            <a:r>
              <a:rPr lang="fr-BE" sz="18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initial. </a:t>
            </a:r>
          </a:p>
          <a:p>
            <a:pPr marL="0" marR="0">
              <a:lnSpc>
                <a:spcPct val="115000"/>
              </a:lnSpc>
              <a:spcBef>
                <a:spcPts val="800"/>
              </a:spcBef>
              <a:spcAft>
                <a:spcPts val="225"/>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Phase 2 – Analyse des recommandations </a:t>
            </a:r>
          </a:p>
          <a:p>
            <a:pPr marL="0" marR="48895">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Lecture et interprétation des résultats de l'audit. Lynis classe les résultats en avertissements (WARNING), suggestions (SUGGESTION) et éléments validés (OK). Chaque recommandation est étudiée pour prioriser les actions correctives. </a:t>
            </a:r>
          </a:p>
          <a:p>
            <a:r>
              <a:rPr lang="fr-BE" b="1" dirty="0">
                <a:latin typeface="Times New Roman" panose="02020603050405020304" pitchFamily="18" charset="0"/>
                <a:cs typeface="Times New Roman" panose="02020603050405020304" pitchFamily="18" charset="0"/>
              </a:rPr>
              <a:t>Phase 3 – </a:t>
            </a:r>
            <a:r>
              <a:rPr lang="fr-BE" b="1" dirty="0" err="1">
                <a:latin typeface="Times New Roman" panose="02020603050405020304" pitchFamily="18" charset="0"/>
                <a:cs typeface="Times New Roman" panose="02020603050405020304" pitchFamily="18" charset="0"/>
              </a:rPr>
              <a:t>Hardening</a:t>
            </a:r>
            <a:r>
              <a:rPr lang="fr-BE" b="1" dirty="0">
                <a:latin typeface="Times New Roman" panose="02020603050405020304" pitchFamily="18" charset="0"/>
                <a:cs typeface="Times New Roman" panose="02020603050405020304" pitchFamily="18" charset="0"/>
              </a:rPr>
              <a:t> </a:t>
            </a:r>
          </a:p>
          <a:p>
            <a:r>
              <a:rPr lang="fr-BE" dirty="0">
                <a:latin typeface="Times New Roman" panose="02020603050405020304" pitchFamily="18" charset="0"/>
                <a:cs typeface="Times New Roman" panose="02020603050405020304" pitchFamily="18" charset="0"/>
              </a:rPr>
              <a:t>Application des mesures correctives : configuration des paramètres noyau (</a:t>
            </a:r>
            <a:r>
              <a:rPr lang="fr-BE" dirty="0" err="1">
                <a:latin typeface="Times New Roman" panose="02020603050405020304" pitchFamily="18" charset="0"/>
                <a:cs typeface="Times New Roman" panose="02020603050405020304" pitchFamily="18" charset="0"/>
              </a:rPr>
              <a:t>sysctl</a:t>
            </a:r>
            <a:r>
              <a:rPr lang="fr-BE" dirty="0">
                <a:latin typeface="Times New Roman" panose="02020603050405020304" pitchFamily="18" charset="0"/>
                <a:cs typeface="Times New Roman" panose="02020603050405020304" pitchFamily="18" charset="0"/>
              </a:rPr>
              <a:t>), désactivation des services non nécessaires, correction des permissions de fichiers sensibles (/</a:t>
            </a:r>
            <a:r>
              <a:rPr lang="fr-BE" dirty="0" err="1">
                <a:latin typeface="Times New Roman" panose="02020603050405020304" pitchFamily="18" charset="0"/>
                <a:cs typeface="Times New Roman" panose="02020603050405020304" pitchFamily="18" charset="0"/>
              </a:rPr>
              <a:t>etc</a:t>
            </a:r>
            <a:r>
              <a:rPr lang="fr-BE" dirty="0">
                <a:latin typeface="Times New Roman" panose="02020603050405020304" pitchFamily="18" charset="0"/>
                <a:cs typeface="Times New Roman" panose="02020603050405020304" pitchFamily="18" charset="0"/>
              </a:rPr>
              <a:t>/</a:t>
            </a:r>
            <a:r>
              <a:rPr lang="fr-BE" dirty="0" err="1">
                <a:latin typeface="Times New Roman" panose="02020603050405020304" pitchFamily="18" charset="0"/>
                <a:cs typeface="Times New Roman" panose="02020603050405020304" pitchFamily="18" charset="0"/>
              </a:rPr>
              <a:t>shadow</a:t>
            </a:r>
            <a:r>
              <a:rPr lang="fr-BE" dirty="0">
                <a:latin typeface="Times New Roman" panose="02020603050405020304" pitchFamily="18" charset="0"/>
                <a:cs typeface="Times New Roman" panose="02020603050405020304" pitchFamily="18" charset="0"/>
              </a:rPr>
              <a:t>, SSH), installation du </a:t>
            </a:r>
            <a:r>
              <a:rPr lang="fr-BE" dirty="0" err="1">
                <a:latin typeface="Times New Roman" panose="02020603050405020304" pitchFamily="18" charset="0"/>
                <a:cs typeface="Times New Roman" panose="02020603050405020304" pitchFamily="18" charset="0"/>
              </a:rPr>
              <a:t>parefeu</a:t>
            </a:r>
            <a:r>
              <a:rPr lang="fr-BE" dirty="0">
                <a:latin typeface="Times New Roman" panose="02020603050405020304" pitchFamily="18" charset="0"/>
                <a:cs typeface="Times New Roman" panose="02020603050405020304" pitchFamily="18" charset="0"/>
              </a:rPr>
              <a:t> UFW, déploiement de l'IDS AIDE et activation des mises à jour automatiques. </a:t>
            </a:r>
          </a:p>
          <a:p>
            <a:pPr marL="0" marR="48895">
              <a:lnSpc>
                <a:spcPct val="115000"/>
              </a:lnSpc>
              <a:spcAft>
                <a:spcPts val="800"/>
              </a:spcAft>
              <a:buNone/>
            </a:pPr>
            <a:endParaRPr lang="fr-BE"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9722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EF036A-403F-D513-CFAB-A28768A518E6}"/>
              </a:ext>
            </a:extLst>
          </p:cNvPr>
          <p:cNvSpPr txBox="1"/>
          <p:nvPr/>
        </p:nvSpPr>
        <p:spPr>
          <a:xfrm>
            <a:off x="914400" y="272716"/>
            <a:ext cx="8229600" cy="1093313"/>
          </a:xfrm>
          <a:prstGeom prst="rect">
            <a:avLst/>
          </a:prstGeom>
          <a:noFill/>
        </p:spPr>
        <p:txBody>
          <a:bodyPr wrap="square">
            <a:spAutoFit/>
          </a:bodyPr>
          <a:lstStyle/>
          <a:p>
            <a:pPr marL="0" marR="0">
              <a:lnSpc>
                <a:spcPct val="115000"/>
              </a:lnSpc>
              <a:spcBef>
                <a:spcPts val="800"/>
              </a:spcBef>
              <a:spcAft>
                <a:spcPts val="240"/>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Phase 4 – Nouveau scan et comparaison </a:t>
            </a:r>
          </a:p>
          <a:p>
            <a:pPr marL="0" marR="48895">
              <a:lnSpc>
                <a:spcPct val="115000"/>
              </a:lnSpc>
              <a:spcAft>
                <a:spcPts val="725"/>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Relancement de l'audit Lynis après les améliorations. Comparaison du score de </a:t>
            </a:r>
            <a:r>
              <a:rPr lang="fr-BE" sz="18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initial et final, et analyse des progrès réalisés. </a:t>
            </a:r>
          </a:p>
        </p:txBody>
      </p:sp>
    </p:spTree>
    <p:extLst>
      <p:ext uri="{BB962C8B-B14F-4D97-AF65-F5344CB8AC3E}">
        <p14:creationId xmlns:p14="http://schemas.microsoft.com/office/powerpoint/2010/main" val="1668575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33FE55B-37CF-A3BE-2F20-A6D8AE668CED}"/>
              </a:ext>
            </a:extLst>
          </p:cNvPr>
          <p:cNvSpPr>
            <a:spLocks noChangeArrowheads="1"/>
          </p:cNvSpPr>
          <p:nvPr/>
        </p:nvSpPr>
        <p:spPr bwMode="auto">
          <a:xfrm>
            <a:off x="723900" y="685800"/>
            <a:ext cx="3855720" cy="215788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0" marR="0" lvl="0" indent="0" defTabSz="914400" fontAlgn="base">
              <a:lnSpc>
                <a:spcPct val="84000"/>
              </a:lnSpc>
              <a:spcBef>
                <a:spcPct val="0"/>
              </a:spcBef>
              <a:spcAft>
                <a:spcPts val="600"/>
              </a:spcAft>
              <a:buClrTx/>
              <a:buSzTx/>
              <a:tabLst/>
            </a:pP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Résultats et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analyse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p>
          <a:p>
            <a:pPr marL="0" marR="0" lvl="0" indent="0" defTabSz="914400" fontAlgn="base">
              <a:lnSpc>
                <a:spcPct val="84000"/>
              </a:lnSpc>
              <a:spcBef>
                <a:spcPct val="0"/>
              </a:spcBef>
              <a:spcAft>
                <a:spcPts val="600"/>
              </a:spcAft>
              <a:buClrTx/>
              <a:buSzTx/>
              <a:tabLst/>
            </a:pPr>
            <a:r>
              <a:rPr kumimoji="0" lang="en-US" altLang="fr-FR" sz="1600" b="1"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1. Installation de Lynis </a:t>
            </a:r>
            <a:endPar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endParaRPr>
          </a:p>
          <a:p>
            <a:pPr marL="0" marR="0" lvl="0" indent="0" defTabSz="914400" fontAlgn="base">
              <a:lnSpc>
                <a:spcPct val="84000"/>
              </a:lnSpc>
              <a:spcBef>
                <a:spcPct val="0"/>
              </a:spcBef>
              <a:spcAft>
                <a:spcPts val="600"/>
              </a:spcAft>
              <a:buClrTx/>
              <a:buSzTx/>
              <a:tabLst/>
            </a:pP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La première étape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consiste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à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mettre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à jour les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dépôts</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du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système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avec la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commande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sudo</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apt update,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puis</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à installer Lynis via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sudo</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apt install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lynis</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Cette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opération</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télécharge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et configure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automatiquement</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l'outil</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ainsi</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que</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ses</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r>
              <a:rPr kumimoji="0" lang="en-US" altLang="fr-FR" sz="1600" b="0" i="0" u="none" strike="noStrike" cap="none" normalizeH="0" dirty="0" err="1">
                <a:ln>
                  <a:noFill/>
                </a:ln>
                <a:solidFill>
                  <a:schemeClr val="tx2"/>
                </a:solidFill>
                <a:effectLst/>
                <a:latin typeface="Times New Roman" panose="02020603050405020304" pitchFamily="18" charset="0"/>
                <a:ea typeface="+mj-ea"/>
                <a:cs typeface="Times New Roman" panose="02020603050405020304" pitchFamily="18" charset="0"/>
              </a:rPr>
              <a:t>dépendances</a:t>
            </a: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p>
          <a:p>
            <a:pPr marL="0" marR="0" lvl="0" indent="0" defTabSz="914400" fontAlgn="base">
              <a:lnSpc>
                <a:spcPct val="84000"/>
              </a:lnSpc>
              <a:spcBef>
                <a:spcPct val="0"/>
              </a:spcBef>
              <a:spcAft>
                <a:spcPts val="600"/>
              </a:spcAft>
              <a:buClrTx/>
              <a:buSzTx/>
              <a:tabLst/>
            </a:pPr>
            <a:r>
              <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rPr>
              <a:t> </a:t>
            </a:r>
          </a:p>
          <a:p>
            <a:pPr marL="0" marR="0" lvl="0" indent="0" defTabSz="914400" fontAlgn="base">
              <a:lnSpc>
                <a:spcPct val="84000"/>
              </a:lnSpc>
              <a:spcBef>
                <a:spcPct val="0"/>
              </a:spcBef>
              <a:spcAft>
                <a:spcPts val="600"/>
              </a:spcAft>
              <a:buClrTx/>
              <a:buSzTx/>
              <a:tabLst/>
            </a:pPr>
            <a:endParaRPr kumimoji="0" lang="en-US" altLang="fr-FR" sz="1600" b="0" i="0" u="none" strike="noStrike" cap="none" normalizeH="0" dirty="0">
              <a:ln>
                <a:noFill/>
              </a:ln>
              <a:solidFill>
                <a:schemeClr val="tx2"/>
              </a:solidFill>
              <a:effectLst/>
              <a:latin typeface="Times New Roman" panose="02020603050405020304" pitchFamily="18" charset="0"/>
              <a:ea typeface="+mj-ea"/>
              <a:cs typeface="Times New Roman" panose="02020603050405020304" pitchFamily="18" charset="0"/>
            </a:endParaRPr>
          </a:p>
        </p:txBody>
      </p:sp>
      <p:pic>
        <p:nvPicPr>
          <p:cNvPr id="1025" name="Picture 494">
            <a:extLst>
              <a:ext uri="{FF2B5EF4-FFF2-40B4-BE49-F238E27FC236}">
                <a16:creationId xmlns:a16="http://schemas.microsoft.com/office/drawing/2014/main" id="{652D5A38-D4E0-693A-8921-A473365D87D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55983" y="0"/>
            <a:ext cx="5812154" cy="6857999"/>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32FDED8-456C-B8D5-36A0-7743276C52ED}"/>
              </a:ext>
            </a:extLst>
          </p:cNvPr>
          <p:cNvSpPr>
            <a:spLocks noChangeArrowheads="1"/>
          </p:cNvSpPr>
          <p:nvPr/>
        </p:nvSpPr>
        <p:spPr bwMode="auto">
          <a:xfrm>
            <a:off x="723900" y="2855968"/>
            <a:ext cx="3855720" cy="30114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defTabSz="914400" fontAlgn="base">
              <a:lnSpc>
                <a:spcPct val="113000"/>
              </a:lnSpc>
              <a:spcAft>
                <a:spcPts val="1500"/>
              </a:spcAft>
              <a:buClrTx/>
              <a:buSzTx/>
              <a:tabLst/>
            </a:pPr>
            <a:r>
              <a:rPr kumimoji="0" lang="fr-FR" altLang="fr-FR" sz="160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a:t>
            </a:r>
          </a:p>
          <a:p>
            <a:pPr marR="0" defTabSz="914400" fontAlgn="base">
              <a:lnSpc>
                <a:spcPct val="113000"/>
              </a:lnSpc>
              <a:spcAft>
                <a:spcPts val="1500"/>
              </a:spcAft>
              <a:buClrTx/>
              <a:buSzTx/>
              <a:tabLst/>
            </a:pPr>
            <a:r>
              <a:rPr kumimoji="0" lang="fr-FR" altLang="fr-FR" sz="160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a:t>
            </a:r>
          </a:p>
          <a:p>
            <a:pPr marR="0" defTabSz="914400" fontAlgn="base">
              <a:lnSpc>
                <a:spcPct val="113000"/>
              </a:lnSpc>
              <a:spcAft>
                <a:spcPts val="1500"/>
              </a:spcAft>
              <a:buClrTx/>
              <a:buSzTx/>
              <a:tabLst/>
            </a:pPr>
            <a:r>
              <a:rPr kumimoji="0" lang="fr-FR" altLang="fr-FR" sz="160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a:t>
            </a:r>
          </a:p>
          <a:p>
            <a:pPr marR="0" defTabSz="914400" fontAlgn="base">
              <a:lnSpc>
                <a:spcPct val="113000"/>
              </a:lnSpc>
              <a:spcAft>
                <a:spcPts val="1500"/>
              </a:spcAft>
              <a:buClrTx/>
              <a:buSzTx/>
              <a:tabLst/>
            </a:pPr>
            <a:r>
              <a:rPr kumimoji="0" lang="fr-FR" altLang="fr-FR" sz="160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Installation du paquet Lynis  téléchargement et configuration des paquets nécessaires </a:t>
            </a:r>
          </a:p>
          <a:p>
            <a:pPr marR="0" defTabSz="914400" fontAlgn="base">
              <a:lnSpc>
                <a:spcPct val="113000"/>
              </a:lnSpc>
              <a:spcAft>
                <a:spcPts val="1500"/>
              </a:spcAft>
              <a:buClrTx/>
              <a:buSzTx/>
              <a:tabLst/>
            </a:pPr>
            <a:r>
              <a:rPr kumimoji="0" lang="fr-FR" altLang="fr-FR" sz="160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65101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0ACFC9-4662-80C9-F4DA-CC27D757C100}"/>
              </a:ext>
            </a:extLst>
          </p:cNvPr>
          <p:cNvPicPr/>
          <p:nvPr/>
        </p:nvPicPr>
        <p:blipFill>
          <a:blip r:embed="rId2"/>
          <a:stretch>
            <a:fillRect/>
          </a:stretch>
        </p:blipFill>
        <p:spPr>
          <a:xfrm>
            <a:off x="3619500" y="485775"/>
            <a:ext cx="4953000" cy="5886450"/>
          </a:xfrm>
          <a:prstGeom prst="rect">
            <a:avLst/>
          </a:prstGeom>
        </p:spPr>
      </p:pic>
    </p:spTree>
    <p:extLst>
      <p:ext uri="{BB962C8B-B14F-4D97-AF65-F5344CB8AC3E}">
        <p14:creationId xmlns:p14="http://schemas.microsoft.com/office/powerpoint/2010/main" val="2855823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C43F7BE-4EEC-9F3C-41BB-BE8896ACA227}"/>
              </a:ext>
            </a:extLst>
          </p:cNvPr>
          <p:cNvSpPr>
            <a:spLocks noChangeArrowheads="1"/>
          </p:cNvSpPr>
          <p:nvPr/>
        </p:nvSpPr>
        <p:spPr bwMode="auto">
          <a:xfrm>
            <a:off x="858254" y="-92135"/>
            <a:ext cx="6400799" cy="1815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400" b="0" i="0" u="none" strike="noStrike" cap="none" normalizeH="0" baseline="0" dirty="0">
                <a:ln>
                  <a:noFill/>
                </a:ln>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2. Vérification de l'installation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Après l'installation, la version de Lynis est confirmée avec la commande </a:t>
            </a:r>
            <a:r>
              <a:rPr kumimoji="0" lang="fr-BE" altLang="fr-FR" sz="1600"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lynis</a:t>
            </a:r>
            <a:r>
              <a:rPr kumimoji="0" lang="fr-BE" altLang="fr-FR"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--version.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La capture ci-dessous montre que Lynis 3.0.9 est correctement installé et opérationnel sur le serveur Ubuntu. </a:t>
            </a:r>
            <a:endParaRPr kumimoji="0" lang="fr-BE" altLang="fr-FR"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3" name="Picture 543">
            <a:extLst>
              <a:ext uri="{FF2B5EF4-FFF2-40B4-BE49-F238E27FC236}">
                <a16:creationId xmlns:a16="http://schemas.microsoft.com/office/drawing/2014/main" id="{C726F6F8-F718-AF74-585F-31B17450A0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558" y="1348728"/>
            <a:ext cx="3786695" cy="100143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9EA39817-08AA-5642-E1BE-8D01ADE26D97}"/>
              </a:ext>
            </a:extLst>
          </p:cNvPr>
          <p:cNvSpPr>
            <a:spLocks noChangeArrowheads="1"/>
          </p:cNvSpPr>
          <p:nvPr/>
        </p:nvSpPr>
        <p:spPr bwMode="auto">
          <a:xfrm>
            <a:off x="881558" y="903297"/>
            <a:ext cx="6088737" cy="40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b="0" i="0" u="none" strike="noStrike" cap="none" normalizeH="0" baseline="0" dirty="0">
              <a:ln>
                <a:noFill/>
              </a:ln>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dirty="0">
              <a:solidFill>
                <a:srgbClr val="0F4761"/>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b="0" i="0" u="none" strike="noStrike" cap="none" normalizeH="0" baseline="0" dirty="0">
              <a:ln>
                <a:noFill/>
              </a:ln>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BE" altLang="fr-FR" dirty="0">
              <a:solidFill>
                <a:srgbClr val="0F4761"/>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BE" altLang="fr-FR" b="0" i="0" u="none" strike="noStrike" cap="none" normalizeH="0" baseline="0" dirty="0">
                <a:ln>
                  <a:noFill/>
                </a:ln>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3. Lancement de l'audit complet </a:t>
            </a:r>
          </a:p>
          <a:p>
            <a:pPr lvl="0" defTabSz="914400" eaLnBrk="0" fontAlgn="base" hangingPunct="0">
              <a:spcBef>
                <a:spcPct val="0"/>
              </a:spcBef>
              <a:spcAft>
                <a:spcPct val="0"/>
              </a:spcAft>
            </a:pPr>
            <a:r>
              <a:rPr kumimoji="0" lang="fr-BE" altLang="fr-FR"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L'audit est lancé avec </a:t>
            </a:r>
            <a:r>
              <a:rPr kumimoji="0" lang="fr-BE" altLang="fr-FR"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sudo</a:t>
            </a:r>
            <a:r>
              <a:rPr kumimoji="0" lang="fr-BE" altLang="fr-FR"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r>
              <a:rPr kumimoji="0" lang="fr-BE" altLang="fr-FR" b="0" i="0" u="none" strike="noStrike" cap="none" normalizeH="0" baseline="0" dirty="0" err="1">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lynis</a:t>
            </a:r>
            <a:r>
              <a:rPr kumimoji="0" lang="fr-BE" altLang="fr-FR"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audit system. Lynis parcourt le système en exécutant des centaines de tests : il vérifie la configuration du noyau, les services réseau actifs, </a:t>
            </a:r>
            <a:r>
              <a:rPr lang="fr-BE" dirty="0">
                <a:latin typeface="Times New Roman" panose="02020603050405020304" pitchFamily="18" charset="0"/>
                <a:cs typeface="Times New Roman" panose="02020603050405020304" pitchFamily="18" charset="0"/>
              </a:rPr>
              <a:t>les droits d'accès aux fichiers, les paramètres d'authentification, la journalisation, les mises à jour disponibles, etc. </a:t>
            </a:r>
          </a:p>
          <a:p>
            <a:pPr lvl="0" defTabSz="914400" eaLnBrk="0" fontAlgn="base" hangingPunct="0">
              <a:spcBef>
                <a:spcPct val="0"/>
              </a:spcBef>
              <a:spcAft>
                <a:spcPct val="0"/>
              </a:spcAft>
            </a:pPr>
            <a:endParaRPr kumimoji="0" lang="fr-BE" altLang="fr-FR"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BE" altLang="fr-FR"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5">
            <a:extLst>
              <a:ext uri="{FF2B5EF4-FFF2-40B4-BE49-F238E27FC236}">
                <a16:creationId xmlns:a16="http://schemas.microsoft.com/office/drawing/2014/main" id="{4C69CA2D-B7B7-CA23-97B8-5CD6887F84E8}"/>
              </a:ext>
            </a:extLst>
          </p:cNvPr>
          <p:cNvSpPr>
            <a:spLocks noChangeArrowheads="1"/>
          </p:cNvSpPr>
          <p:nvPr/>
        </p:nvSpPr>
        <p:spPr bwMode="auto">
          <a:xfrm>
            <a:off x="5374105" y="249674"/>
            <a:ext cx="51438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BE">
              <a:latin typeface="Times New Roman" panose="02020603050405020304" pitchFamily="18" charset="0"/>
              <a:cs typeface="Times New Roman" panose="02020603050405020304" pitchFamily="18" charset="0"/>
            </a:endParaRPr>
          </a:p>
        </p:txBody>
      </p:sp>
      <p:pic>
        <p:nvPicPr>
          <p:cNvPr id="3076" name="Picture 557">
            <a:extLst>
              <a:ext uri="{FF2B5EF4-FFF2-40B4-BE49-F238E27FC236}">
                <a16:creationId xmlns:a16="http://schemas.microsoft.com/office/drawing/2014/main" id="{AF9864A8-59F8-6B3B-EBA2-CC09F6123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136" y="794084"/>
            <a:ext cx="4138863" cy="51166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3FD220-D649-8CC1-8531-DE612E2476E4}"/>
              </a:ext>
            </a:extLst>
          </p:cNvPr>
          <p:cNvSpPr txBox="1"/>
          <p:nvPr/>
        </p:nvSpPr>
        <p:spPr>
          <a:xfrm>
            <a:off x="5839326" y="3105835"/>
            <a:ext cx="5037221" cy="3416320"/>
          </a:xfrm>
          <a:prstGeom prst="rect">
            <a:avLst/>
          </a:prstGeom>
          <a:noFill/>
        </p:spPr>
        <p:txBody>
          <a:bodyPr wrap="square">
            <a:spAutoFit/>
          </a:bodyPr>
          <a:lstStyle/>
          <a:p>
            <a:endPar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fr-BE" dirty="0">
              <a:solidFill>
                <a:srgbClr val="444444"/>
              </a:solidFill>
              <a:latin typeface="Times New Roman" panose="02020603050405020304" pitchFamily="18" charset="0"/>
              <a:ea typeface="Aptos" panose="020B0004020202020204" pitchFamily="34" charset="0"/>
              <a:cs typeface="Times New Roman" panose="02020603050405020304" pitchFamily="18" charset="0"/>
            </a:endParaRPr>
          </a:p>
          <a:p>
            <a:endPar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fr-BE" dirty="0">
              <a:solidFill>
                <a:srgbClr val="444444"/>
              </a:solidFill>
              <a:latin typeface="Times New Roman" panose="02020603050405020304" pitchFamily="18" charset="0"/>
              <a:ea typeface="Aptos" panose="020B0004020202020204" pitchFamily="34" charset="0"/>
              <a:cs typeface="Times New Roman" panose="02020603050405020304" pitchFamily="18" charset="0"/>
            </a:endParaRPr>
          </a:p>
          <a:p>
            <a:endPar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fr-BE" dirty="0">
              <a:solidFill>
                <a:srgbClr val="444444"/>
              </a:solidFill>
              <a:latin typeface="Times New Roman" panose="02020603050405020304" pitchFamily="18" charset="0"/>
              <a:ea typeface="Aptos" panose="020B0004020202020204" pitchFamily="34" charset="0"/>
              <a:cs typeface="Times New Roman" panose="02020603050405020304" pitchFamily="18" charset="0"/>
            </a:endParaRPr>
          </a:p>
          <a:p>
            <a:endPar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fr-BE" dirty="0">
              <a:solidFill>
                <a:srgbClr val="444444"/>
              </a:solidFill>
              <a:latin typeface="Times New Roman" panose="02020603050405020304" pitchFamily="18" charset="0"/>
              <a:ea typeface="Aptos" panose="020B0004020202020204" pitchFamily="34" charset="0"/>
              <a:cs typeface="Times New Roman" panose="02020603050405020304" pitchFamily="18" charset="0"/>
            </a:endParaRPr>
          </a:p>
          <a:p>
            <a:endPar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r>
              <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Démarrage de l'audit Lynis initialisation du scan et vérification des modules</a:t>
            </a:r>
            <a:endParaRPr lang="fr-B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558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5B1DAB4-8B7C-696E-E27C-1CE570EE370D}"/>
              </a:ext>
            </a:extLst>
          </p:cNvPr>
          <p:cNvSpPr>
            <a:spLocks noChangeArrowheads="1"/>
          </p:cNvSpPr>
          <p:nvPr/>
        </p:nvSpPr>
        <p:spPr bwMode="auto">
          <a:xfrm>
            <a:off x="3365924" y="-12699"/>
            <a:ext cx="16272060" cy="469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BE"/>
          </a:p>
        </p:txBody>
      </p:sp>
      <p:pic>
        <p:nvPicPr>
          <p:cNvPr id="4097" name="Picture 570">
            <a:extLst>
              <a:ext uri="{FF2B5EF4-FFF2-40B4-BE49-F238E27FC236}">
                <a16:creationId xmlns:a16="http://schemas.microsoft.com/office/drawing/2014/main" id="{E602A01A-93AF-DE84-D7B1-93EAF6302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7406" y="377505"/>
            <a:ext cx="6610524" cy="596932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954246DF-F9A7-CFC4-7CE5-4F6F9CF632FE}"/>
              </a:ext>
            </a:extLst>
          </p:cNvPr>
          <p:cNvSpPr>
            <a:spLocks noChangeArrowheads="1"/>
          </p:cNvSpPr>
          <p:nvPr/>
        </p:nvSpPr>
        <p:spPr bwMode="auto">
          <a:xfrm rot="10800000" flipV="1">
            <a:off x="8934275" y="5954181"/>
            <a:ext cx="30400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Progression de l'audit  résultats des tests par module (OK, WARNING, </a:t>
            </a:r>
            <a:endParaRPr kumimoji="0" lang="fr-BE" altLang="fr-FR"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SUGGESTION</a:t>
            </a:r>
            <a:r>
              <a:rPr kumimoji="0" lang="fr-BE" altLang="fr-FR" sz="1200" b="0" i="0" u="none" strike="noStrike" cap="none" normalizeH="0" baseline="0" dirty="0">
                <a:ln>
                  <a:noFill/>
                </a:ln>
                <a:solidFill>
                  <a:srgbClr val="444444"/>
                </a:solidFill>
                <a:effectLst/>
                <a:latin typeface="Aptos" panose="020B0004020202020204" pitchFamily="34" charset="0"/>
                <a:ea typeface="Aptos" panose="020B0004020202020204" pitchFamily="34" charset="0"/>
                <a:cs typeface="Times New Roman" panose="02020603050405020304" pitchFamily="18" charset="0"/>
              </a:rPr>
              <a:t>)</a:t>
            </a:r>
            <a:r>
              <a:rPr kumimoji="0" lang="fr-BE" altLang="fr-FR"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0878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ECF56B8-66D9-BBAC-F6A3-FE1142D54899}"/>
              </a:ext>
            </a:extLst>
          </p:cNvPr>
          <p:cNvSpPr>
            <a:spLocks noChangeArrowheads="1"/>
          </p:cNvSpPr>
          <p:nvPr/>
        </p:nvSpPr>
        <p:spPr bwMode="auto">
          <a:xfrm>
            <a:off x="7002585" y="619639"/>
            <a:ext cx="1328616" cy="390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BE"/>
          </a:p>
        </p:txBody>
      </p:sp>
      <p:pic>
        <p:nvPicPr>
          <p:cNvPr id="5121" name="Picture 593">
            <a:extLst>
              <a:ext uri="{FF2B5EF4-FFF2-40B4-BE49-F238E27FC236}">
                <a16:creationId xmlns:a16="http://schemas.microsoft.com/office/drawing/2014/main" id="{78E0DA42-9448-7C08-4AEF-3281D8254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3301" y="116376"/>
            <a:ext cx="5803734" cy="66224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FA15A9C7-0D21-3DDA-DA13-B6F593429938}"/>
              </a:ext>
            </a:extLst>
          </p:cNvPr>
          <p:cNvSpPr>
            <a:spLocks noChangeArrowheads="1"/>
          </p:cNvSpPr>
          <p:nvPr/>
        </p:nvSpPr>
        <p:spPr bwMode="auto">
          <a:xfrm>
            <a:off x="8987692" y="4945902"/>
            <a:ext cx="250873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800" b="0" i="0" u="none" strike="noStrike" cap="none" normalizeH="0" baseline="0" dirty="0">
              <a:ln>
                <a:noFill/>
              </a:ln>
              <a:solidFill>
                <a:schemeClr val="tx1"/>
              </a:solidFill>
              <a:effectLst/>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dirty="0">
                <a:ln>
                  <a:noFill/>
                </a:ln>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Fin de l'audit initial rapport complet avec score de </a:t>
            </a:r>
            <a:r>
              <a:rPr kumimoji="0" lang="fr-BE" altLang="fr-FR" sz="1200" b="0" i="0" u="none" strike="noStrike" cap="none" normalizeH="0" baseline="0" dirty="0" err="1">
                <a:ln>
                  <a:noFill/>
                </a:ln>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hardening</a:t>
            </a:r>
            <a:r>
              <a:rPr kumimoji="0" lang="fr-BE" altLang="fr-FR" sz="1200" b="0" i="0" u="none" strike="noStrike" cap="none" normalizeH="0" baseline="0" dirty="0">
                <a:ln>
                  <a:noFill/>
                </a:ln>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et liste des recommandations</a:t>
            </a:r>
            <a:r>
              <a:rPr kumimoji="0" lang="fr-BE" altLang="fr-FR" sz="12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fr-BE" altLang="fr-FR"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629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C3A769-E0FC-BAB1-2C6B-BD9CFE48FEAF}"/>
              </a:ext>
            </a:extLst>
          </p:cNvPr>
          <p:cNvSpPr txBox="1"/>
          <p:nvPr/>
        </p:nvSpPr>
        <p:spPr>
          <a:xfrm>
            <a:off x="765908" y="85969"/>
            <a:ext cx="7807569" cy="1465209"/>
          </a:xfrm>
          <a:prstGeom prst="rect">
            <a:avLst/>
          </a:prstGeom>
          <a:noFill/>
        </p:spPr>
        <p:txBody>
          <a:bodyPr wrap="square">
            <a:spAutoFit/>
          </a:bodyPr>
          <a:lstStyle/>
          <a:p>
            <a:pPr marL="0" marR="0">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4. Analyse des recommandations </a:t>
            </a:r>
          </a:p>
          <a:p>
            <a:pPr marL="0" marR="48895">
              <a:lnSpc>
                <a:spcPct val="115000"/>
              </a:lnSpc>
              <a:spcAft>
                <a:spcPts val="80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Lynis génère une synthèse des recommandations prioritaires. Parmi les points identifiés : l'absence de pare-feu, l'absence d'un système de détection d'intrusion, des permissions trop larges sur certains fichiers sensibles, et les mises à jour automatiques désactivées. </a:t>
            </a:r>
          </a:p>
          <a:p>
            <a:pPr marL="0" marR="48895">
              <a:lnSpc>
                <a:spcPct val="115000"/>
              </a:lnSpc>
              <a:spcAft>
                <a:spcPts val="800"/>
              </a:spcAft>
              <a:buNone/>
            </a:pPr>
            <a:endParaRPr lang="fr-BE" sz="1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1311736-FD4B-B27B-7C14-1718471073D8}"/>
              </a:ext>
            </a:extLst>
          </p:cNvPr>
          <p:cNvPicPr/>
          <p:nvPr/>
        </p:nvPicPr>
        <p:blipFill>
          <a:blip r:embed="rId2"/>
          <a:stretch>
            <a:fillRect/>
          </a:stretch>
        </p:blipFill>
        <p:spPr>
          <a:xfrm>
            <a:off x="764932" y="1461477"/>
            <a:ext cx="4901222" cy="4934560"/>
          </a:xfrm>
          <a:prstGeom prst="rect">
            <a:avLst/>
          </a:prstGeom>
        </p:spPr>
      </p:pic>
      <p:sp>
        <p:nvSpPr>
          <p:cNvPr id="6" name="TextBox 5">
            <a:extLst>
              <a:ext uri="{FF2B5EF4-FFF2-40B4-BE49-F238E27FC236}">
                <a16:creationId xmlns:a16="http://schemas.microsoft.com/office/drawing/2014/main" id="{CDC8DFD9-18D3-CB99-A927-AAC5A1A113D3}"/>
              </a:ext>
            </a:extLst>
          </p:cNvPr>
          <p:cNvSpPr txBox="1"/>
          <p:nvPr/>
        </p:nvSpPr>
        <p:spPr>
          <a:xfrm>
            <a:off x="5666154" y="1922585"/>
            <a:ext cx="6783753" cy="4185441"/>
          </a:xfrm>
          <a:prstGeom prst="rect">
            <a:avLst/>
          </a:prstGeom>
          <a:noFill/>
        </p:spPr>
        <p:txBody>
          <a:bodyPr wrap="square">
            <a:spAutoFit/>
          </a:bodyPr>
          <a:lstStyle/>
          <a:p>
            <a:pPr marL="2147570" marR="0" indent="-1991995">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2147570" marR="0" indent="-1991995">
              <a:lnSpc>
                <a:spcPct val="115000"/>
              </a:lnSpc>
              <a:spcAft>
                <a:spcPts val="930"/>
              </a:spcAft>
              <a:buNone/>
            </a:pPr>
            <a:r>
              <a:rPr lang="fr-BE" sz="1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Recommandations Lynis  liste des suggestions de sécurité et paquets conseillés à installer</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3042943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8E0B7B-614F-D868-39D7-6A0BF305CA78}"/>
              </a:ext>
            </a:extLst>
          </p:cNvPr>
          <p:cNvSpPr txBox="1"/>
          <p:nvPr/>
        </p:nvSpPr>
        <p:spPr>
          <a:xfrm>
            <a:off x="711200" y="-54707"/>
            <a:ext cx="8432800" cy="1639295"/>
          </a:xfrm>
          <a:prstGeom prst="rect">
            <a:avLst/>
          </a:prstGeom>
          <a:noFill/>
        </p:spPr>
        <p:txBody>
          <a:bodyPr wrap="square">
            <a:spAutoFit/>
          </a:bodyPr>
          <a:lstStyle/>
          <a:p>
            <a:pPr marL="0" marR="0">
              <a:lnSpc>
                <a:spcPct val="115000"/>
              </a:lnSpc>
              <a:spcBef>
                <a:spcPts val="800"/>
              </a:spcBef>
              <a:spcAft>
                <a:spcPts val="400"/>
              </a:spcAft>
              <a:buNone/>
            </a:pPr>
            <a:r>
              <a:rPr lang="fr-BE" sz="16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5. </a:t>
            </a:r>
            <a:r>
              <a:rPr lang="fr-BE" sz="16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6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 Installation du pare-feu (UFW) </a:t>
            </a:r>
          </a:p>
          <a:p>
            <a:pPr marL="0" marR="48895">
              <a:lnSpc>
                <a:spcPct val="115000"/>
              </a:lnSpc>
              <a:spcAft>
                <a:spcPts val="800"/>
              </a:spcAft>
              <a:buNone/>
            </a:pP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Suite à la recommandation de Lynis, le pare-feu UFW (</a:t>
            </a:r>
            <a:r>
              <a:rPr lang="fr-BE" sz="1600" kern="100" dirty="0" err="1">
                <a:effectLst/>
                <a:latin typeface="Times New Roman" panose="02020603050405020304" pitchFamily="18" charset="0"/>
                <a:ea typeface="Aptos" panose="020B0004020202020204" pitchFamily="34" charset="0"/>
                <a:cs typeface="Times New Roman" panose="02020603050405020304" pitchFamily="18" charset="0"/>
              </a:rPr>
              <a:t>Uncomplicated</a:t>
            </a: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 Firewall) est installé et activé. UFW offre une interface simple pour gérer les règles </a:t>
            </a:r>
            <a:r>
              <a:rPr lang="fr-BE" sz="1600" kern="100" dirty="0" err="1">
                <a:effectLst/>
                <a:latin typeface="Times New Roman" panose="02020603050405020304" pitchFamily="18" charset="0"/>
                <a:ea typeface="Aptos" panose="020B0004020202020204" pitchFamily="34" charset="0"/>
                <a:cs typeface="Times New Roman" panose="02020603050405020304" pitchFamily="18" charset="0"/>
              </a:rPr>
              <a:t>iptables</a:t>
            </a: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 Son activation permet de filtrer le trafic réseau et de réduire la surface d'attaque du serveur. </a:t>
            </a:r>
          </a:p>
          <a:p>
            <a:pPr marL="0" marR="48895">
              <a:lnSpc>
                <a:spcPct val="115000"/>
              </a:lnSpc>
              <a:spcAft>
                <a:spcPts val="800"/>
              </a:spcAft>
              <a:buNone/>
            </a:pPr>
            <a:endParaRPr lang="fr-BE" sz="16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9B4C8A2-507C-E125-524A-552CDB4FC441}"/>
              </a:ext>
            </a:extLst>
          </p:cNvPr>
          <p:cNvPicPr/>
          <p:nvPr/>
        </p:nvPicPr>
        <p:blipFill>
          <a:blip r:embed="rId2"/>
          <a:stretch>
            <a:fillRect/>
          </a:stretch>
        </p:blipFill>
        <p:spPr>
          <a:xfrm>
            <a:off x="836246" y="1391137"/>
            <a:ext cx="5142523" cy="4985849"/>
          </a:xfrm>
          <a:prstGeom prst="rect">
            <a:avLst/>
          </a:prstGeom>
        </p:spPr>
      </p:pic>
      <p:sp>
        <p:nvSpPr>
          <p:cNvPr id="6" name="TextBox 5">
            <a:extLst>
              <a:ext uri="{FF2B5EF4-FFF2-40B4-BE49-F238E27FC236}">
                <a16:creationId xmlns:a16="http://schemas.microsoft.com/office/drawing/2014/main" id="{A9AFABAA-02A2-DCEA-F49A-C263AD51C9C1}"/>
              </a:ext>
            </a:extLst>
          </p:cNvPr>
          <p:cNvSpPr txBox="1"/>
          <p:nvPr/>
        </p:nvSpPr>
        <p:spPr>
          <a:xfrm>
            <a:off x="5978768" y="3080435"/>
            <a:ext cx="5275386" cy="3416320"/>
          </a:xfrm>
          <a:prstGeom prst="rect">
            <a:avLst/>
          </a:prstGeom>
          <a:noFill/>
        </p:spPr>
        <p:txBody>
          <a:bodyPr wrap="square">
            <a:spAutoFit/>
          </a:bodyPr>
          <a:lstStyle/>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r>
              <a:rPr lang="fr-BE" sz="1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Installation et activation du pare-feu UFW vérification du statut actif</a:t>
            </a:r>
            <a:r>
              <a:rPr lang="fr-BE" sz="1800" dirty="0">
                <a:effectLst/>
                <a:latin typeface="Times New Roman" panose="02020603050405020304" pitchFamily="18" charset="0"/>
                <a:ea typeface="Aptos" panose="020B0004020202020204" pitchFamily="34" charset="0"/>
                <a:cs typeface="Times New Roman" panose="02020603050405020304" pitchFamily="18" charset="0"/>
              </a:rPr>
              <a:t> </a:t>
            </a:r>
            <a:endParaRPr lang="fr-B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707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EBD67A-A093-4289-AAA5-72BAAB939507}"/>
              </a:ext>
            </a:extLst>
          </p:cNvPr>
          <p:cNvSpPr txBox="1"/>
          <p:nvPr/>
        </p:nvSpPr>
        <p:spPr>
          <a:xfrm>
            <a:off x="781538" y="-78153"/>
            <a:ext cx="8362462" cy="1639295"/>
          </a:xfrm>
          <a:prstGeom prst="rect">
            <a:avLst/>
          </a:prstGeom>
          <a:noFill/>
        </p:spPr>
        <p:txBody>
          <a:bodyPr wrap="square">
            <a:spAutoFit/>
          </a:bodyPr>
          <a:lstStyle/>
          <a:p>
            <a:pPr marL="0" marR="0">
              <a:lnSpc>
                <a:spcPct val="115000"/>
              </a:lnSpc>
              <a:spcBef>
                <a:spcPts val="800"/>
              </a:spcBef>
              <a:spcAft>
                <a:spcPts val="400"/>
              </a:spcAft>
              <a:buNone/>
            </a:pPr>
            <a:r>
              <a:rPr lang="fr-BE" sz="16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6. </a:t>
            </a:r>
            <a:r>
              <a:rPr lang="fr-BE" sz="16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6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 Installation de l'IDS AIDE </a:t>
            </a:r>
          </a:p>
          <a:p>
            <a:pPr marL="0" marR="48895">
              <a:lnSpc>
                <a:spcPct val="115000"/>
              </a:lnSpc>
              <a:spcAft>
                <a:spcPts val="800"/>
              </a:spcAft>
              <a:buNone/>
            </a:pP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AIDE (Advanced Intrusion </a:t>
            </a:r>
            <a:r>
              <a:rPr lang="fr-BE" sz="1600" kern="100" dirty="0" err="1">
                <a:effectLst/>
                <a:latin typeface="Times New Roman" panose="02020603050405020304" pitchFamily="18" charset="0"/>
                <a:ea typeface="Aptos" panose="020B0004020202020204" pitchFamily="34" charset="0"/>
                <a:cs typeface="Times New Roman" panose="02020603050405020304" pitchFamily="18" charset="0"/>
              </a:rPr>
              <a:t>Detection</a:t>
            </a: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fr-BE" sz="1600" kern="100" dirty="0" err="1">
                <a:effectLst/>
                <a:latin typeface="Times New Roman" panose="02020603050405020304" pitchFamily="18" charset="0"/>
                <a:ea typeface="Aptos" panose="020B0004020202020204" pitchFamily="34" charset="0"/>
                <a:cs typeface="Times New Roman" panose="02020603050405020304" pitchFamily="18" charset="0"/>
              </a:rPr>
              <a:t>Environment</a:t>
            </a: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 est un système de détection d'intrusion basé sur la vérification de l'intégrité des fichiers. Il établit une base de référence (hash des fichiers système critiques) et détecte toute modification suspecte ultérieure. </a:t>
            </a:r>
          </a:p>
          <a:p>
            <a:pPr marL="0" marR="48895">
              <a:lnSpc>
                <a:spcPct val="115000"/>
              </a:lnSpc>
              <a:spcAft>
                <a:spcPts val="800"/>
              </a:spcAft>
              <a:buNone/>
            </a:pPr>
            <a:endParaRPr lang="fr-BE" sz="16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F554288-3433-B988-A11C-9BCC1C0DB44F}"/>
              </a:ext>
            </a:extLst>
          </p:cNvPr>
          <p:cNvPicPr/>
          <p:nvPr/>
        </p:nvPicPr>
        <p:blipFill>
          <a:blip r:embed="rId2"/>
          <a:stretch>
            <a:fillRect/>
          </a:stretch>
        </p:blipFill>
        <p:spPr>
          <a:xfrm>
            <a:off x="781538" y="1117600"/>
            <a:ext cx="5728677" cy="5268912"/>
          </a:xfrm>
          <a:prstGeom prst="rect">
            <a:avLst/>
          </a:prstGeom>
        </p:spPr>
      </p:pic>
      <p:sp>
        <p:nvSpPr>
          <p:cNvPr id="6" name="TextBox 5">
            <a:extLst>
              <a:ext uri="{FF2B5EF4-FFF2-40B4-BE49-F238E27FC236}">
                <a16:creationId xmlns:a16="http://schemas.microsoft.com/office/drawing/2014/main" id="{22345756-A96F-020A-C094-0766F3D42828}"/>
              </a:ext>
            </a:extLst>
          </p:cNvPr>
          <p:cNvSpPr txBox="1"/>
          <p:nvPr/>
        </p:nvSpPr>
        <p:spPr>
          <a:xfrm>
            <a:off x="6510214" y="3207211"/>
            <a:ext cx="4736124" cy="3139321"/>
          </a:xfrm>
          <a:prstGeom prst="rect">
            <a:avLst/>
          </a:prstGeom>
          <a:noFill/>
        </p:spPr>
        <p:txBody>
          <a:bodyPr wrap="square">
            <a:spAutoFit/>
          </a:bodyPr>
          <a:lstStyle/>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endParaRPr lang="fr-BE"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endPar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r>
              <a:rPr lang="fr-BE" sz="18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rPr>
              <a:t>Installation du paquet AIDE sur le serveur Ubuntu</a:t>
            </a:r>
            <a:r>
              <a:rPr lang="fr-BE" sz="1800" dirty="0">
                <a:effectLst/>
                <a:latin typeface="Aptos" panose="020B0004020202020204" pitchFamily="34" charset="0"/>
                <a:ea typeface="Aptos" panose="020B0004020202020204" pitchFamily="34" charset="0"/>
                <a:cs typeface="Times New Roman" panose="02020603050405020304" pitchFamily="18" charset="0"/>
              </a:rPr>
              <a:t> </a:t>
            </a:r>
            <a:endParaRPr lang="fr-BE" dirty="0"/>
          </a:p>
        </p:txBody>
      </p:sp>
    </p:spTree>
    <p:extLst>
      <p:ext uri="{BB962C8B-B14F-4D97-AF65-F5344CB8AC3E}">
        <p14:creationId xmlns:p14="http://schemas.microsoft.com/office/powerpoint/2010/main" val="110770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52C235-6EEE-4386-72AA-016F25274DFF}"/>
              </a:ext>
            </a:extLst>
          </p:cNvPr>
          <p:cNvPicPr/>
          <p:nvPr/>
        </p:nvPicPr>
        <p:blipFill>
          <a:blip r:embed="rId2"/>
          <a:stretch>
            <a:fillRect/>
          </a:stretch>
        </p:blipFill>
        <p:spPr>
          <a:xfrm>
            <a:off x="773724" y="62523"/>
            <a:ext cx="5439508" cy="3970215"/>
          </a:xfrm>
          <a:prstGeom prst="rect">
            <a:avLst/>
          </a:prstGeom>
        </p:spPr>
      </p:pic>
      <p:sp>
        <p:nvSpPr>
          <p:cNvPr id="4" name="TextBox 3">
            <a:extLst>
              <a:ext uri="{FF2B5EF4-FFF2-40B4-BE49-F238E27FC236}">
                <a16:creationId xmlns:a16="http://schemas.microsoft.com/office/drawing/2014/main" id="{AB3C7434-BC83-FDF7-B2DA-7AA17C61B6A3}"/>
              </a:ext>
            </a:extLst>
          </p:cNvPr>
          <p:cNvSpPr txBox="1"/>
          <p:nvPr/>
        </p:nvSpPr>
        <p:spPr>
          <a:xfrm>
            <a:off x="836246" y="3074093"/>
            <a:ext cx="5376986" cy="1900200"/>
          </a:xfrm>
          <a:prstGeom prst="rect">
            <a:avLst/>
          </a:prstGeom>
          <a:noFill/>
        </p:spPr>
        <p:txBody>
          <a:bodyPr wrap="square">
            <a:spAutoFit/>
          </a:bodyPr>
          <a:lstStyle/>
          <a:p>
            <a:pPr marL="2070735" marR="0" indent="-2052955">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2070735" marR="0" indent="-2052955">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2070735" marR="0" indent="-2052955">
              <a:lnSpc>
                <a:spcPct val="115000"/>
              </a:lnSpc>
              <a:spcAft>
                <a:spcPts val="930"/>
              </a:spcAft>
              <a:buNone/>
            </a:pPr>
            <a:r>
              <a:rPr lang="fr-BE" sz="1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Configuration d'aide  création des fichiers de service et paramétrage de la détection d'intégrité</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6" name="TextBox 5">
            <a:extLst>
              <a:ext uri="{FF2B5EF4-FFF2-40B4-BE49-F238E27FC236}">
                <a16:creationId xmlns:a16="http://schemas.microsoft.com/office/drawing/2014/main" id="{41F31BF5-6284-7A7B-45A5-8A75E0BF5477}"/>
              </a:ext>
            </a:extLst>
          </p:cNvPr>
          <p:cNvSpPr txBox="1"/>
          <p:nvPr/>
        </p:nvSpPr>
        <p:spPr>
          <a:xfrm>
            <a:off x="6471138" y="351692"/>
            <a:ext cx="5955324" cy="1712969"/>
          </a:xfrm>
          <a:prstGeom prst="rect">
            <a:avLst/>
          </a:prstGeom>
          <a:noFill/>
        </p:spPr>
        <p:txBody>
          <a:bodyPr wrap="square">
            <a:spAutoFit/>
          </a:bodyPr>
          <a:lstStyle/>
          <a:p>
            <a:pPr marL="0" marR="0">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7. </a:t>
            </a:r>
            <a:r>
              <a:rPr lang="fr-BE" sz="14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 Mises à jour automatiques de sécurité </a:t>
            </a:r>
          </a:p>
          <a:p>
            <a:pPr marL="0" marR="48895">
              <a:lnSpc>
                <a:spcPct val="115000"/>
              </a:lnSpc>
              <a:spcAft>
                <a:spcPts val="80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Le paquet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unattended</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-upgrades est installé pour automatiser l'application des correctifs de sécurité. Cette mesure est essentielle pour garantir que les vulnérabilités connues sont corrigées rapidement, sans attendre une intervention manuelle de l'administrateur. </a:t>
            </a:r>
          </a:p>
          <a:p>
            <a:pPr marL="0" marR="48895">
              <a:lnSpc>
                <a:spcPct val="115000"/>
              </a:lnSpc>
              <a:spcAft>
                <a:spcPts val="800"/>
              </a:spcAft>
              <a:buNone/>
            </a:pPr>
            <a:endParaRPr lang="fr-BE" sz="1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36BA2ED0-68CE-10DA-4AC4-07311B1F6520}"/>
              </a:ext>
            </a:extLst>
          </p:cNvPr>
          <p:cNvPicPr/>
          <p:nvPr/>
        </p:nvPicPr>
        <p:blipFill>
          <a:blip r:embed="rId3"/>
          <a:stretch>
            <a:fillRect/>
          </a:stretch>
        </p:blipFill>
        <p:spPr>
          <a:xfrm>
            <a:off x="6861908" y="1758461"/>
            <a:ext cx="3852983" cy="3837354"/>
          </a:xfrm>
          <a:prstGeom prst="rect">
            <a:avLst/>
          </a:prstGeom>
        </p:spPr>
      </p:pic>
      <p:sp>
        <p:nvSpPr>
          <p:cNvPr id="9" name="TextBox 8">
            <a:extLst>
              <a:ext uri="{FF2B5EF4-FFF2-40B4-BE49-F238E27FC236}">
                <a16:creationId xmlns:a16="http://schemas.microsoft.com/office/drawing/2014/main" id="{C4213298-6A60-B6C9-91F8-C253D249461F}"/>
              </a:ext>
            </a:extLst>
          </p:cNvPr>
          <p:cNvSpPr txBox="1"/>
          <p:nvPr/>
        </p:nvSpPr>
        <p:spPr>
          <a:xfrm>
            <a:off x="5853723" y="2914819"/>
            <a:ext cx="6338277" cy="3661708"/>
          </a:xfrm>
          <a:prstGeom prst="rect">
            <a:avLst/>
          </a:prstGeom>
          <a:noFill/>
        </p:spPr>
        <p:txBody>
          <a:bodyPr wrap="square">
            <a:spAutoFit/>
          </a:bodyPr>
          <a:lstStyle/>
          <a:p>
            <a:pPr marL="1900555" marR="0" indent="-1351915">
              <a:lnSpc>
                <a:spcPct val="115000"/>
              </a:lnSpc>
              <a:spcAft>
                <a:spcPts val="80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900555" marR="0" indent="-1351915">
              <a:lnSpc>
                <a:spcPct val="115000"/>
              </a:lnSpc>
              <a:spcAft>
                <a:spcPts val="80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900555" marR="0" indent="-1351915">
              <a:lnSpc>
                <a:spcPct val="115000"/>
              </a:lnSpc>
              <a:spcAft>
                <a:spcPts val="80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900555" marR="0" indent="-1351915">
              <a:lnSpc>
                <a:spcPct val="115000"/>
              </a:lnSpc>
              <a:spcAft>
                <a:spcPts val="80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900555" marR="0" indent="-1351915">
              <a:lnSpc>
                <a:spcPct val="115000"/>
              </a:lnSpc>
              <a:spcAft>
                <a:spcPts val="80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900555" marR="0" indent="-1351915">
              <a:lnSpc>
                <a:spcPct val="115000"/>
              </a:lnSpc>
              <a:spcAft>
                <a:spcPts val="80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900555" marR="0" indent="-1351915" algn="r">
              <a:lnSpc>
                <a:spcPct val="115000"/>
              </a:lnSpc>
              <a:spcAft>
                <a:spcPts val="80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900555" marR="0" indent="-1351915" algn="r">
              <a:lnSpc>
                <a:spcPct val="115000"/>
              </a:lnSpc>
              <a:spcAft>
                <a:spcPts val="800"/>
              </a:spcAft>
              <a:buNone/>
            </a:pPr>
            <a:r>
              <a:rPr lang="fr-BE" sz="1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Installation d'</a:t>
            </a:r>
            <a:r>
              <a:rPr lang="fr-BE" sz="18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unattended</a:t>
            </a:r>
            <a:r>
              <a:rPr lang="fr-BE" sz="1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-upgrades  liste des dépendances et confirmation d'installation</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4239257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EF653E-51EC-90CA-9B15-CA0ED3B5EE16}"/>
              </a:ext>
            </a:extLst>
          </p:cNvPr>
          <p:cNvPicPr/>
          <p:nvPr/>
        </p:nvPicPr>
        <p:blipFill>
          <a:blip r:embed="rId2"/>
          <a:stretch>
            <a:fillRect/>
          </a:stretch>
        </p:blipFill>
        <p:spPr>
          <a:xfrm>
            <a:off x="734646" y="1"/>
            <a:ext cx="4032739" cy="4876800"/>
          </a:xfrm>
          <a:prstGeom prst="rect">
            <a:avLst/>
          </a:prstGeom>
        </p:spPr>
      </p:pic>
      <p:sp>
        <p:nvSpPr>
          <p:cNvPr id="4" name="TextBox 3">
            <a:extLst>
              <a:ext uri="{FF2B5EF4-FFF2-40B4-BE49-F238E27FC236}">
                <a16:creationId xmlns:a16="http://schemas.microsoft.com/office/drawing/2014/main" id="{06BDD1B5-0284-3B5C-ECC6-BDCB93FBEF86}"/>
              </a:ext>
            </a:extLst>
          </p:cNvPr>
          <p:cNvSpPr txBox="1"/>
          <p:nvPr/>
        </p:nvSpPr>
        <p:spPr>
          <a:xfrm>
            <a:off x="179753" y="2735066"/>
            <a:ext cx="4501662" cy="2512034"/>
          </a:xfrm>
          <a:prstGeom prst="rect">
            <a:avLst/>
          </a:prstGeom>
          <a:noFill/>
        </p:spPr>
        <p:txBody>
          <a:bodyPr wrap="square">
            <a:spAutoFit/>
          </a:bodyPr>
          <a:lstStyle/>
          <a:p>
            <a:pPr marL="1490345" marR="0" indent="-1228090">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490345" marR="0" indent="-1228090">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490345" marR="0" indent="-1228090">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490345" marR="0" indent="-1228090">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490345" marR="0" indent="-1228090">
              <a:lnSpc>
                <a:spcPct val="115000"/>
              </a:lnSpc>
              <a:spcAft>
                <a:spcPts val="930"/>
              </a:spcAft>
              <a:buNone/>
            </a:pPr>
            <a:endParaRPr lang="fr-BE" sz="11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490345" marR="0" indent="-1228090">
              <a:lnSpc>
                <a:spcPct val="115000"/>
              </a:lnSpc>
              <a:spcAft>
                <a:spcPts val="930"/>
              </a:spcAft>
              <a:buNone/>
            </a:pPr>
            <a:r>
              <a:rPr lang="fr-BE" sz="11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rPr>
              <a:t>      </a:t>
            </a:r>
            <a:r>
              <a:rPr lang="fr-BE" sz="11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Configuration d'</a:t>
            </a:r>
            <a:r>
              <a:rPr lang="fr-BE" sz="11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unattended</a:t>
            </a:r>
            <a:r>
              <a:rPr lang="fr-BE" sz="11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-upgrades  paramétrage de l'installation automatique des mises à jour stables</a:t>
            </a:r>
            <a:r>
              <a:rPr lang="fr-BE" sz="11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6" name="TextBox 5">
            <a:extLst>
              <a:ext uri="{FF2B5EF4-FFF2-40B4-BE49-F238E27FC236}">
                <a16:creationId xmlns:a16="http://schemas.microsoft.com/office/drawing/2014/main" id="{48264791-FD83-A338-F0EA-78754DAB1210}"/>
              </a:ext>
            </a:extLst>
          </p:cNvPr>
          <p:cNvSpPr txBox="1"/>
          <p:nvPr/>
        </p:nvSpPr>
        <p:spPr>
          <a:xfrm>
            <a:off x="5595815" y="103744"/>
            <a:ext cx="6096000" cy="1922449"/>
          </a:xfrm>
          <a:prstGeom prst="rect">
            <a:avLst/>
          </a:prstGeom>
          <a:noFill/>
        </p:spPr>
        <p:txBody>
          <a:bodyPr wrap="square">
            <a:spAutoFit/>
          </a:bodyPr>
          <a:lstStyle/>
          <a:p>
            <a:pPr marL="0" marR="0">
              <a:lnSpc>
                <a:spcPct val="115000"/>
              </a:lnSpc>
              <a:spcBef>
                <a:spcPts val="800"/>
              </a:spcBef>
              <a:spcAft>
                <a:spcPts val="400"/>
              </a:spcAft>
              <a:buNone/>
            </a:pPr>
            <a:r>
              <a:rPr lang="fr-BE" sz="16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8. </a:t>
            </a:r>
            <a:r>
              <a:rPr lang="fr-BE" sz="16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6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 Configuration des services système </a:t>
            </a:r>
          </a:p>
          <a:p>
            <a:pPr marL="0" marR="48895">
              <a:lnSpc>
                <a:spcPct val="115000"/>
              </a:lnSpc>
              <a:spcAft>
                <a:spcPts val="800"/>
              </a:spcAft>
              <a:buNone/>
            </a:pP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Des paramètres de sécurité sont appliqués via la configuration système. Les services non indispensables sont désactivés afin de réduire la surface d'attaque. Le statut du service </a:t>
            </a:r>
            <a:r>
              <a:rPr lang="fr-BE" sz="1600" kern="100" dirty="0" err="1">
                <a:effectLst/>
                <a:latin typeface="Times New Roman" panose="02020603050405020304" pitchFamily="18" charset="0"/>
                <a:ea typeface="Aptos" panose="020B0004020202020204" pitchFamily="34" charset="0"/>
                <a:cs typeface="Times New Roman" panose="02020603050405020304" pitchFamily="18" charset="0"/>
              </a:rPr>
              <a:t>unattended</a:t>
            </a: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-upgrades est vérifié pour confirmer son bon fonctionnement. </a:t>
            </a:r>
          </a:p>
          <a:p>
            <a:pPr marL="0" marR="48895">
              <a:lnSpc>
                <a:spcPct val="115000"/>
              </a:lnSpc>
              <a:spcAft>
                <a:spcPts val="800"/>
              </a:spcAft>
              <a:buNone/>
            </a:pPr>
            <a:endParaRPr lang="fr-BE" sz="16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E111DD3C-0A72-9CE5-A5C9-190DE83BD35A}"/>
              </a:ext>
            </a:extLst>
          </p:cNvPr>
          <p:cNvPicPr/>
          <p:nvPr/>
        </p:nvPicPr>
        <p:blipFill>
          <a:blip r:embed="rId3"/>
          <a:stretch>
            <a:fillRect/>
          </a:stretch>
        </p:blipFill>
        <p:spPr>
          <a:xfrm>
            <a:off x="5650523" y="1563077"/>
            <a:ext cx="4345353" cy="2876061"/>
          </a:xfrm>
          <a:prstGeom prst="rect">
            <a:avLst/>
          </a:prstGeom>
        </p:spPr>
      </p:pic>
      <p:sp>
        <p:nvSpPr>
          <p:cNvPr id="9" name="TextBox 8">
            <a:extLst>
              <a:ext uri="{FF2B5EF4-FFF2-40B4-BE49-F238E27FC236}">
                <a16:creationId xmlns:a16="http://schemas.microsoft.com/office/drawing/2014/main" id="{6CFCAF54-0D50-AABC-E3B8-17C63C2DF0CB}"/>
              </a:ext>
            </a:extLst>
          </p:cNvPr>
          <p:cNvSpPr txBox="1"/>
          <p:nvPr/>
        </p:nvSpPr>
        <p:spPr>
          <a:xfrm>
            <a:off x="4915877" y="2130221"/>
            <a:ext cx="7276124" cy="3317511"/>
          </a:xfrm>
          <a:prstGeom prst="rect">
            <a:avLst/>
          </a:prstGeom>
          <a:noFill/>
        </p:spPr>
        <p:txBody>
          <a:bodyPr wrap="square">
            <a:spAutoFit/>
          </a:bodyPr>
          <a:lstStyle/>
          <a:p>
            <a:pPr marL="1583690" marR="0" indent="-1111250">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583690" marR="0" indent="-1111250">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583690" marR="0" indent="-1111250">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583690" marR="0" indent="-1111250">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583690" marR="0" indent="-1111250">
              <a:lnSpc>
                <a:spcPct val="115000"/>
              </a:lnSpc>
              <a:spcAft>
                <a:spcPts val="9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583690" marR="0" indent="-1111250">
              <a:lnSpc>
                <a:spcPct val="115000"/>
              </a:lnSpc>
              <a:spcAft>
                <a:spcPts val="9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583690" marR="0" indent="-1111250">
              <a:lnSpc>
                <a:spcPct val="115000"/>
              </a:lnSpc>
              <a:spcAft>
                <a:spcPts val="930"/>
              </a:spcAft>
              <a:buNone/>
            </a:pPr>
            <a:r>
              <a:rPr lang="fr-BE" sz="16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Vérification du statut des services système et confirmation de l'activation d'</a:t>
            </a:r>
            <a:r>
              <a:rPr lang="fr-BE" sz="16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unattended</a:t>
            </a:r>
            <a:r>
              <a:rPr lang="fr-BE" sz="16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-upgrades</a:t>
            </a:r>
            <a:r>
              <a:rPr lang="fr-BE" sz="16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298891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D6BA62-8727-0523-FB78-AAF1E373FDAD}"/>
              </a:ext>
            </a:extLst>
          </p:cNvPr>
          <p:cNvSpPr txBox="1"/>
          <p:nvPr/>
        </p:nvSpPr>
        <p:spPr>
          <a:xfrm>
            <a:off x="695570" y="1"/>
            <a:ext cx="4798646" cy="2456250"/>
          </a:xfrm>
          <a:prstGeom prst="rect">
            <a:avLst/>
          </a:prstGeom>
          <a:noFill/>
        </p:spPr>
        <p:txBody>
          <a:bodyPr wrap="square">
            <a:spAutoFit/>
          </a:bodyPr>
          <a:lstStyle/>
          <a:p>
            <a:pPr marL="0" marR="0">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9. </a:t>
            </a:r>
            <a:r>
              <a:rPr lang="fr-BE" sz="14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 Correction des permissions des fichiers sensibles </a:t>
            </a:r>
          </a:p>
          <a:p>
            <a:pPr marL="0" marR="48895">
              <a:lnSpc>
                <a:spcPct val="115000"/>
              </a:lnSpc>
              <a:spcAft>
                <a:spcPts val="80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Les permissions de fichiers critiques sont corrigées selon les recommandations de Lynis. Le fichier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etc</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shadow</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(mots de passe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hashés</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des utilisateurs) doit être accessible uniquement par l'utilisateur root. Les permissions du répertoire SSH sont également vérifiées et ajustées pour empêcher tout accès non autorisé. </a:t>
            </a:r>
          </a:p>
          <a:p>
            <a:pPr marL="0" marR="48895">
              <a:lnSpc>
                <a:spcPct val="115000"/>
              </a:lnSpc>
              <a:spcAft>
                <a:spcPts val="800"/>
              </a:spcAft>
              <a:buNone/>
            </a:pPr>
            <a:endParaRPr lang="fr-BE" sz="1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53A95856-4DA7-A507-A56E-E3D1F06A5A48}"/>
              </a:ext>
            </a:extLst>
          </p:cNvPr>
          <p:cNvPicPr/>
          <p:nvPr/>
        </p:nvPicPr>
        <p:blipFill>
          <a:blip r:embed="rId2"/>
          <a:stretch>
            <a:fillRect/>
          </a:stretch>
        </p:blipFill>
        <p:spPr>
          <a:xfrm>
            <a:off x="765908" y="2032000"/>
            <a:ext cx="4196861" cy="2768599"/>
          </a:xfrm>
          <a:prstGeom prst="rect">
            <a:avLst/>
          </a:prstGeom>
        </p:spPr>
      </p:pic>
      <p:sp>
        <p:nvSpPr>
          <p:cNvPr id="6" name="TextBox 5">
            <a:extLst>
              <a:ext uri="{FF2B5EF4-FFF2-40B4-BE49-F238E27FC236}">
                <a16:creationId xmlns:a16="http://schemas.microsoft.com/office/drawing/2014/main" id="{D554213C-AD7F-B330-DF90-919DEA203688}"/>
              </a:ext>
            </a:extLst>
          </p:cNvPr>
          <p:cNvSpPr txBox="1"/>
          <p:nvPr/>
        </p:nvSpPr>
        <p:spPr>
          <a:xfrm>
            <a:off x="695570" y="3075184"/>
            <a:ext cx="4267199" cy="2100511"/>
          </a:xfrm>
          <a:prstGeom prst="rect">
            <a:avLst/>
          </a:prstGeom>
          <a:noFill/>
        </p:spPr>
        <p:txBody>
          <a:bodyPr wrap="square">
            <a:spAutoFit/>
          </a:bodyPr>
          <a:lstStyle/>
          <a:p>
            <a:pPr marL="449580" marR="0" indent="449580">
              <a:lnSpc>
                <a:spcPct val="115000"/>
              </a:lnSpc>
              <a:spcAft>
                <a:spcPts val="45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449580" marR="0" indent="449580">
              <a:lnSpc>
                <a:spcPct val="115000"/>
              </a:lnSpc>
              <a:spcAft>
                <a:spcPts val="45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449580" marR="0" indent="449580">
              <a:lnSpc>
                <a:spcPct val="115000"/>
              </a:lnSpc>
              <a:spcAft>
                <a:spcPts val="45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449580" marR="0" indent="449580">
              <a:lnSpc>
                <a:spcPct val="115000"/>
              </a:lnSpc>
              <a:spcAft>
                <a:spcPts val="45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449580" marR="0" indent="449580">
              <a:lnSpc>
                <a:spcPct val="115000"/>
              </a:lnSpc>
              <a:spcAft>
                <a:spcPts val="450"/>
              </a:spcAft>
              <a:buNone/>
            </a:pPr>
            <a:endParaRPr lang="fr-BE" sz="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449580" marR="0" indent="449580">
              <a:lnSpc>
                <a:spcPct val="115000"/>
              </a:lnSpc>
              <a:spcAft>
                <a:spcPts val="450"/>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Vérification des permissions actuelles du fichier /</a:t>
            </a:r>
            <a:r>
              <a:rPr lang="fr-BE" sz="8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etc</a:t>
            </a: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a:t>
            </a:r>
            <a:r>
              <a:rPr lang="fr-BE" sz="8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shadow</a:t>
            </a: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(640 </a:t>
            </a:r>
            <a:r>
              <a:rPr lang="fr-BE" sz="800" kern="100" dirty="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trop permissif)</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7" name="Rectangle 2">
            <a:extLst>
              <a:ext uri="{FF2B5EF4-FFF2-40B4-BE49-F238E27FC236}">
                <a16:creationId xmlns:a16="http://schemas.microsoft.com/office/drawing/2014/main" id="{5B903058-4B41-7899-DFA9-17FA379B37BA}"/>
              </a:ext>
            </a:extLst>
          </p:cNvPr>
          <p:cNvSpPr>
            <a:spLocks noChangeArrowheads="1"/>
          </p:cNvSpPr>
          <p:nvPr/>
        </p:nvSpPr>
        <p:spPr bwMode="auto">
          <a:xfrm>
            <a:off x="14809816" y="184800"/>
            <a:ext cx="10808335" cy="272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BE"/>
          </a:p>
        </p:txBody>
      </p:sp>
      <p:pic>
        <p:nvPicPr>
          <p:cNvPr id="6145" name="Picture 814">
            <a:extLst>
              <a:ext uri="{FF2B5EF4-FFF2-40B4-BE49-F238E27FC236}">
                <a16:creationId xmlns:a16="http://schemas.microsoft.com/office/drawing/2014/main" id="{5877052A-7F60-592A-5F93-F1AE5F6BB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2277" y="78154"/>
            <a:ext cx="3884246" cy="12394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B5F551F-A4A2-D83A-CD11-09D5452AA89A}"/>
              </a:ext>
            </a:extLst>
          </p:cNvPr>
          <p:cNvSpPr txBox="1"/>
          <p:nvPr/>
        </p:nvSpPr>
        <p:spPr>
          <a:xfrm>
            <a:off x="5322277" y="1340480"/>
            <a:ext cx="3884245" cy="215444"/>
          </a:xfrm>
          <a:prstGeom prst="rect">
            <a:avLst/>
          </a:prstGeom>
          <a:noFill/>
        </p:spPr>
        <p:txBody>
          <a:bodyPr wrap="square">
            <a:spAutoFit/>
          </a:bodyPr>
          <a:lstStyle/>
          <a:p>
            <a:r>
              <a:rPr lang="fr-BE" sz="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Application de chmod 000 sur /</a:t>
            </a:r>
            <a:r>
              <a:rPr lang="fr-BE" sz="8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etc</a:t>
            </a:r>
            <a:r>
              <a:rPr lang="fr-BE" sz="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a:t>
            </a:r>
            <a:r>
              <a:rPr lang="fr-BE" sz="8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shadow</a:t>
            </a:r>
            <a:r>
              <a:rPr lang="fr-BE" sz="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a:t>
            </a:r>
            <a:r>
              <a:rPr lang="fr-BE" sz="800" dirty="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fr-BE" sz="8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restriction totale de l'accès</a:t>
            </a:r>
            <a:r>
              <a:rPr lang="fr-BE" sz="800" dirty="0">
                <a:effectLst/>
                <a:latin typeface="Times New Roman" panose="02020603050405020304" pitchFamily="18" charset="0"/>
                <a:ea typeface="Aptos" panose="020B0004020202020204" pitchFamily="34" charset="0"/>
                <a:cs typeface="Times New Roman" panose="02020603050405020304" pitchFamily="18" charset="0"/>
              </a:rPr>
              <a:t> </a:t>
            </a:r>
            <a:endParaRPr lang="fr-BE" sz="800" dirty="0">
              <a:latin typeface="Times New Roman" panose="02020603050405020304" pitchFamily="18" charset="0"/>
              <a:cs typeface="Times New Roman" panose="02020603050405020304" pitchFamily="18" charset="0"/>
            </a:endParaRPr>
          </a:p>
        </p:txBody>
      </p:sp>
      <p:sp>
        <p:nvSpPr>
          <p:cNvPr id="11" name="Rectangle 5">
            <a:extLst>
              <a:ext uri="{FF2B5EF4-FFF2-40B4-BE49-F238E27FC236}">
                <a16:creationId xmlns:a16="http://schemas.microsoft.com/office/drawing/2014/main" id="{553E3F51-36AA-7859-2D8C-503832798668}"/>
              </a:ext>
            </a:extLst>
          </p:cNvPr>
          <p:cNvSpPr>
            <a:spLocks noChangeArrowheads="1"/>
          </p:cNvSpPr>
          <p:nvPr/>
        </p:nvSpPr>
        <p:spPr bwMode="auto">
          <a:xfrm>
            <a:off x="14836691" y="0"/>
            <a:ext cx="1030507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BE"/>
          </a:p>
        </p:txBody>
      </p:sp>
      <p:pic>
        <p:nvPicPr>
          <p:cNvPr id="6148" name="Picture 816">
            <a:extLst>
              <a:ext uri="{FF2B5EF4-FFF2-40B4-BE49-F238E27FC236}">
                <a16:creationId xmlns:a16="http://schemas.microsoft.com/office/drawing/2014/main" id="{902ACEEF-A727-275E-08FD-147935511D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2277" y="1682306"/>
            <a:ext cx="3696677" cy="77394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6">
            <a:extLst>
              <a:ext uri="{FF2B5EF4-FFF2-40B4-BE49-F238E27FC236}">
                <a16:creationId xmlns:a16="http://schemas.microsoft.com/office/drawing/2014/main" id="{A21EBB55-D4F5-CB31-1AFD-EC0A33223CEE}"/>
              </a:ext>
            </a:extLst>
          </p:cNvPr>
          <p:cNvSpPr>
            <a:spLocks noChangeArrowheads="1"/>
          </p:cNvSpPr>
          <p:nvPr/>
        </p:nvSpPr>
        <p:spPr bwMode="auto">
          <a:xfrm>
            <a:off x="14836691" y="783839"/>
            <a:ext cx="1030507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fr-BE" altLang="fr-FR"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fr-BE" altLang="fr-FR" sz="18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36DD88AB-0235-616C-67A3-EBF6EB148933}"/>
              </a:ext>
            </a:extLst>
          </p:cNvPr>
          <p:cNvSpPr txBox="1"/>
          <p:nvPr/>
        </p:nvSpPr>
        <p:spPr>
          <a:xfrm>
            <a:off x="5267570" y="2456251"/>
            <a:ext cx="3751384" cy="222561"/>
          </a:xfrm>
          <a:prstGeom prst="rect">
            <a:avLst/>
          </a:prstGeom>
          <a:noFill/>
        </p:spPr>
        <p:txBody>
          <a:bodyPr wrap="square">
            <a:spAutoFit/>
          </a:bodyPr>
          <a:lstStyle/>
          <a:p>
            <a:pPr marL="10795" marR="58420" algn="ctr">
              <a:lnSpc>
                <a:spcPct val="115000"/>
              </a:lnSpc>
              <a:spcAft>
                <a:spcPts val="535"/>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Vérification et correction des permissions du dossier SSH</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pic>
        <p:nvPicPr>
          <p:cNvPr id="15" name="Picture 14">
            <a:extLst>
              <a:ext uri="{FF2B5EF4-FFF2-40B4-BE49-F238E27FC236}">
                <a16:creationId xmlns:a16="http://schemas.microsoft.com/office/drawing/2014/main" id="{BF489F4C-2771-4AB8-3EAB-504835103614}"/>
              </a:ext>
            </a:extLst>
          </p:cNvPr>
          <p:cNvPicPr/>
          <p:nvPr/>
        </p:nvPicPr>
        <p:blipFill>
          <a:blip r:embed="rId5"/>
          <a:stretch>
            <a:fillRect/>
          </a:stretch>
        </p:blipFill>
        <p:spPr>
          <a:xfrm>
            <a:off x="5322277" y="2797908"/>
            <a:ext cx="2869222" cy="367323"/>
          </a:xfrm>
          <a:prstGeom prst="rect">
            <a:avLst/>
          </a:prstGeom>
        </p:spPr>
      </p:pic>
      <p:sp>
        <p:nvSpPr>
          <p:cNvPr id="17" name="TextBox 16">
            <a:extLst>
              <a:ext uri="{FF2B5EF4-FFF2-40B4-BE49-F238E27FC236}">
                <a16:creationId xmlns:a16="http://schemas.microsoft.com/office/drawing/2014/main" id="{79516DC1-C263-0A8D-C0F3-B5BD98EC0955}"/>
              </a:ext>
            </a:extLst>
          </p:cNvPr>
          <p:cNvSpPr txBox="1"/>
          <p:nvPr/>
        </p:nvSpPr>
        <p:spPr>
          <a:xfrm>
            <a:off x="5267571" y="3233368"/>
            <a:ext cx="3016738" cy="222561"/>
          </a:xfrm>
          <a:prstGeom prst="rect">
            <a:avLst/>
          </a:prstGeom>
          <a:noFill/>
        </p:spPr>
        <p:txBody>
          <a:bodyPr wrap="square">
            <a:spAutoFit/>
          </a:bodyPr>
          <a:lstStyle/>
          <a:p>
            <a:pPr marL="10795" marR="60960" algn="ctr">
              <a:lnSpc>
                <a:spcPct val="115000"/>
              </a:lnSpc>
              <a:spcAft>
                <a:spcPts val="935"/>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Ajustement des permissions du répertoire personnel de l'utilisateur</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19" name="TextBox 18">
            <a:extLst>
              <a:ext uri="{FF2B5EF4-FFF2-40B4-BE49-F238E27FC236}">
                <a16:creationId xmlns:a16="http://schemas.microsoft.com/office/drawing/2014/main" id="{B6918145-3980-941B-0402-6B8020539994}"/>
              </a:ext>
            </a:extLst>
          </p:cNvPr>
          <p:cNvSpPr txBox="1"/>
          <p:nvPr/>
        </p:nvSpPr>
        <p:spPr>
          <a:xfrm>
            <a:off x="5189414" y="3579138"/>
            <a:ext cx="5478585" cy="1610377"/>
          </a:xfrm>
          <a:prstGeom prst="rect">
            <a:avLst/>
          </a:prstGeom>
          <a:noFill/>
        </p:spPr>
        <p:txBody>
          <a:bodyPr wrap="square">
            <a:spAutoFit/>
          </a:bodyPr>
          <a:lstStyle/>
          <a:p>
            <a:pPr marL="0" marR="0">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10. </a:t>
            </a:r>
            <a:r>
              <a:rPr lang="fr-BE" sz="14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 Initialisation d'AIDE et gestion des journaux </a:t>
            </a:r>
          </a:p>
          <a:p>
            <a:pPr marL="0" marR="48895">
              <a:lnSpc>
                <a:spcPct val="115000"/>
              </a:lnSpc>
              <a:spcAft>
                <a:spcPts val="80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La base de données AIDE est initialisée avec la commande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aideinit</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Cette opération calcule et enregistre les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hashes</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des fichiers système de référence. En parallèle,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logrotate</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est installé pour assurer la rotation et la gestion des fichiers journaux, évitant ainsi la saturation de l'espace disque. </a:t>
            </a:r>
          </a:p>
        </p:txBody>
      </p:sp>
      <p:pic>
        <p:nvPicPr>
          <p:cNvPr id="20" name="Picture 19">
            <a:extLst>
              <a:ext uri="{FF2B5EF4-FFF2-40B4-BE49-F238E27FC236}">
                <a16:creationId xmlns:a16="http://schemas.microsoft.com/office/drawing/2014/main" id="{790B0634-720B-C875-F7E4-D9C861E2EC27}"/>
              </a:ext>
            </a:extLst>
          </p:cNvPr>
          <p:cNvPicPr/>
          <p:nvPr/>
        </p:nvPicPr>
        <p:blipFill>
          <a:blip r:embed="rId6"/>
          <a:stretch>
            <a:fillRect/>
          </a:stretch>
        </p:blipFill>
        <p:spPr>
          <a:xfrm>
            <a:off x="5267569" y="5135061"/>
            <a:ext cx="4493845" cy="565863"/>
          </a:xfrm>
          <a:prstGeom prst="rect">
            <a:avLst/>
          </a:prstGeom>
        </p:spPr>
      </p:pic>
      <p:sp>
        <p:nvSpPr>
          <p:cNvPr id="22" name="TextBox 21">
            <a:extLst>
              <a:ext uri="{FF2B5EF4-FFF2-40B4-BE49-F238E27FC236}">
                <a16:creationId xmlns:a16="http://schemas.microsoft.com/office/drawing/2014/main" id="{427B3DE9-CE6B-5DD4-CB8B-6CE892EB3BAA}"/>
              </a:ext>
            </a:extLst>
          </p:cNvPr>
          <p:cNvSpPr txBox="1"/>
          <p:nvPr/>
        </p:nvSpPr>
        <p:spPr>
          <a:xfrm>
            <a:off x="4962770" y="3165232"/>
            <a:ext cx="6322646" cy="2811475"/>
          </a:xfrm>
          <a:prstGeom prst="rect">
            <a:avLst/>
          </a:prstGeom>
          <a:noFill/>
        </p:spPr>
        <p:txBody>
          <a:bodyPr wrap="square">
            <a:spAutoFit/>
          </a:bodyPr>
          <a:lstStyle/>
          <a:p>
            <a:pPr marL="10795" marR="62230" algn="ctr">
              <a:lnSpc>
                <a:spcPct val="115000"/>
              </a:lnSpc>
              <a:spcAft>
                <a:spcPts val="4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10795" marR="62230" algn="ctr">
              <a:lnSpc>
                <a:spcPct val="115000"/>
              </a:lnSpc>
              <a:spcAft>
                <a:spcPts val="430"/>
              </a:spcAft>
              <a:buNone/>
            </a:pPr>
            <a:r>
              <a:rPr lang="fr-BE" sz="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rPr>
              <a:t> </a:t>
            </a: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Vérification que le paquet AIDE est à jour avant l'initialisation</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pic>
        <p:nvPicPr>
          <p:cNvPr id="23" name="Picture 22">
            <a:extLst>
              <a:ext uri="{FF2B5EF4-FFF2-40B4-BE49-F238E27FC236}">
                <a16:creationId xmlns:a16="http://schemas.microsoft.com/office/drawing/2014/main" id="{C9DD7228-CB6A-F258-7B55-1D0A3574F6E4}"/>
              </a:ext>
            </a:extLst>
          </p:cNvPr>
          <p:cNvPicPr/>
          <p:nvPr/>
        </p:nvPicPr>
        <p:blipFill>
          <a:blip r:embed="rId7"/>
          <a:stretch>
            <a:fillRect/>
          </a:stretch>
        </p:blipFill>
        <p:spPr>
          <a:xfrm>
            <a:off x="5322278" y="5942094"/>
            <a:ext cx="4212491" cy="364922"/>
          </a:xfrm>
          <a:prstGeom prst="rect">
            <a:avLst/>
          </a:prstGeom>
        </p:spPr>
      </p:pic>
      <p:sp>
        <p:nvSpPr>
          <p:cNvPr id="25" name="TextBox 24">
            <a:extLst>
              <a:ext uri="{FF2B5EF4-FFF2-40B4-BE49-F238E27FC236}">
                <a16:creationId xmlns:a16="http://schemas.microsoft.com/office/drawing/2014/main" id="{9B7A075E-1897-AA33-E933-217641B079F5}"/>
              </a:ext>
            </a:extLst>
          </p:cNvPr>
          <p:cNvSpPr txBox="1"/>
          <p:nvPr/>
        </p:nvSpPr>
        <p:spPr>
          <a:xfrm>
            <a:off x="5189413" y="3067681"/>
            <a:ext cx="6830649" cy="3690690"/>
          </a:xfrm>
          <a:prstGeom prst="rect">
            <a:avLst/>
          </a:prstGeom>
          <a:noFill/>
        </p:spPr>
        <p:txBody>
          <a:bodyPr wrap="square">
            <a:spAutoFit/>
          </a:bodyPr>
          <a:lstStyle/>
          <a:p>
            <a:pPr marL="78105" marR="0">
              <a:lnSpc>
                <a:spcPct val="115000"/>
              </a:lnSpc>
              <a:spcAft>
                <a:spcPts val="7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kern="100" dirty="0">
              <a:solidFill>
                <a:srgbClr val="444444"/>
              </a:solidFill>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sz="1800" kern="100" dirty="0">
              <a:solidFill>
                <a:srgbClr val="444444"/>
              </a:solidFill>
              <a:effectLst/>
              <a:latin typeface="Aptos" panose="020B0004020202020204" pitchFamily="34"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kern="100" dirty="0">
              <a:solidFill>
                <a:srgbClr val="444444"/>
              </a:solidFill>
              <a:latin typeface="Times New Roman" panose="02020603050405020304" pitchFamily="18"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endParaRPr>
          </a:p>
          <a:p>
            <a:pPr marL="78105" marR="0">
              <a:lnSpc>
                <a:spcPct val="115000"/>
              </a:lnSpc>
              <a:spcAft>
                <a:spcPts val="70"/>
              </a:spcAft>
              <a:buNone/>
            </a:pPr>
            <a:endParaRPr lang="fr-BE" kern="100" dirty="0">
              <a:solidFill>
                <a:srgbClr val="444444"/>
              </a:solidFill>
              <a:latin typeface="Times New Roman" panose="02020603050405020304" pitchFamily="18" charset="0"/>
              <a:ea typeface="Aptos" panose="020B0004020202020204" pitchFamily="34" charset="0"/>
              <a:cs typeface="Times New Roman" panose="02020603050405020304" pitchFamily="18" charset="0"/>
            </a:endParaRPr>
          </a:p>
          <a:p>
            <a:pPr marL="78105" marR="0">
              <a:lnSpc>
                <a:spcPct val="115000"/>
              </a:lnSpc>
              <a:spcAft>
                <a:spcPts val="70"/>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Initialisation de la base de données AIDE avec </a:t>
            </a:r>
            <a:r>
              <a:rPr lang="fr-BE" sz="8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aideinit</a:t>
            </a: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la création de la </a:t>
            </a:r>
            <a:endParaRPr lang="fr-BE" sz="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0795" marR="55880" algn="ctr">
              <a:lnSpc>
                <a:spcPct val="115000"/>
              </a:lnSpc>
              <a:spcAft>
                <a:spcPts val="430"/>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référence d'intégrité</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2644701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AC61D6-BE0D-15E0-E165-191DF5557258}"/>
              </a:ext>
            </a:extLst>
          </p:cNvPr>
          <p:cNvPicPr/>
          <p:nvPr/>
        </p:nvPicPr>
        <p:blipFill>
          <a:blip r:embed="rId2"/>
          <a:stretch>
            <a:fillRect/>
          </a:stretch>
        </p:blipFill>
        <p:spPr>
          <a:xfrm>
            <a:off x="781538" y="1"/>
            <a:ext cx="3829539" cy="508000"/>
          </a:xfrm>
          <a:prstGeom prst="rect">
            <a:avLst/>
          </a:prstGeom>
        </p:spPr>
      </p:pic>
      <p:sp>
        <p:nvSpPr>
          <p:cNvPr id="4" name="TextBox 3">
            <a:extLst>
              <a:ext uri="{FF2B5EF4-FFF2-40B4-BE49-F238E27FC236}">
                <a16:creationId xmlns:a16="http://schemas.microsoft.com/office/drawing/2014/main" id="{EC3A3F94-60E8-AFB0-847A-B75C20BA5BED}"/>
              </a:ext>
            </a:extLst>
          </p:cNvPr>
          <p:cNvSpPr txBox="1"/>
          <p:nvPr/>
        </p:nvSpPr>
        <p:spPr>
          <a:xfrm>
            <a:off x="593969" y="508001"/>
            <a:ext cx="8362462" cy="222561"/>
          </a:xfrm>
          <a:prstGeom prst="rect">
            <a:avLst/>
          </a:prstGeom>
          <a:noFill/>
        </p:spPr>
        <p:txBody>
          <a:bodyPr wrap="square">
            <a:spAutoFit/>
          </a:bodyPr>
          <a:lstStyle/>
          <a:p>
            <a:pPr marL="111760" marR="0">
              <a:lnSpc>
                <a:spcPct val="115000"/>
              </a:lnSpc>
              <a:spcAft>
                <a:spcPts val="435"/>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Vérification de l'espace disque disponible et état des journaux système</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pic>
        <p:nvPicPr>
          <p:cNvPr id="5" name="Picture 4">
            <a:extLst>
              <a:ext uri="{FF2B5EF4-FFF2-40B4-BE49-F238E27FC236}">
                <a16:creationId xmlns:a16="http://schemas.microsoft.com/office/drawing/2014/main" id="{7C93B059-5DD0-A2D5-28E4-259A24331C08}"/>
              </a:ext>
            </a:extLst>
          </p:cNvPr>
          <p:cNvPicPr/>
          <p:nvPr/>
        </p:nvPicPr>
        <p:blipFill>
          <a:blip r:embed="rId3"/>
          <a:stretch>
            <a:fillRect/>
          </a:stretch>
        </p:blipFill>
        <p:spPr>
          <a:xfrm>
            <a:off x="781538" y="730562"/>
            <a:ext cx="3884247" cy="1059161"/>
          </a:xfrm>
          <a:prstGeom prst="rect">
            <a:avLst/>
          </a:prstGeom>
        </p:spPr>
      </p:pic>
      <p:sp>
        <p:nvSpPr>
          <p:cNvPr id="7" name="TextBox 6">
            <a:extLst>
              <a:ext uri="{FF2B5EF4-FFF2-40B4-BE49-F238E27FC236}">
                <a16:creationId xmlns:a16="http://schemas.microsoft.com/office/drawing/2014/main" id="{CD426498-35A1-0C51-C85D-7375D477FD2D}"/>
              </a:ext>
            </a:extLst>
          </p:cNvPr>
          <p:cNvSpPr txBox="1"/>
          <p:nvPr/>
        </p:nvSpPr>
        <p:spPr>
          <a:xfrm>
            <a:off x="-187569" y="1789723"/>
            <a:ext cx="9331569" cy="222561"/>
          </a:xfrm>
          <a:prstGeom prst="rect">
            <a:avLst/>
          </a:prstGeom>
          <a:noFill/>
        </p:spPr>
        <p:txBody>
          <a:bodyPr wrap="square">
            <a:spAutoFit/>
          </a:bodyPr>
          <a:lstStyle/>
          <a:p>
            <a:pPr marL="449580" marR="0" indent="449580">
              <a:lnSpc>
                <a:spcPct val="115000"/>
              </a:lnSpc>
              <a:spcAft>
                <a:spcPts val="930"/>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Installation de </a:t>
            </a:r>
            <a:r>
              <a:rPr lang="fr-BE" sz="800" kern="100" dirty="0" err="1">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logrotate</a:t>
            </a: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 confirmée gestion de la rotation des logs opérationnelle</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9" name="TextBox 8">
            <a:extLst>
              <a:ext uri="{FF2B5EF4-FFF2-40B4-BE49-F238E27FC236}">
                <a16:creationId xmlns:a16="http://schemas.microsoft.com/office/drawing/2014/main" id="{759F49BA-BFFF-2169-889C-6541A86A5147}"/>
              </a:ext>
            </a:extLst>
          </p:cNvPr>
          <p:cNvSpPr txBox="1"/>
          <p:nvPr/>
        </p:nvSpPr>
        <p:spPr>
          <a:xfrm>
            <a:off x="4853355" y="0"/>
            <a:ext cx="7158892" cy="1362617"/>
          </a:xfrm>
          <a:prstGeom prst="rect">
            <a:avLst/>
          </a:prstGeom>
          <a:noFill/>
        </p:spPr>
        <p:txBody>
          <a:bodyPr wrap="square">
            <a:spAutoFit/>
          </a:bodyPr>
          <a:lstStyle/>
          <a:p>
            <a:pPr marL="0" marR="0">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11. Audit final – Comparaison avant et après </a:t>
            </a:r>
          </a:p>
          <a:p>
            <a:pPr marL="0" marR="48895">
              <a:lnSpc>
                <a:spcPct val="115000"/>
              </a:lnSpc>
              <a:spcAft>
                <a:spcPts val="80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Après l'application de toutes les mesures de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un second audit Lynis est lancé. Les résultats montrent une amélioration significative : le score de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passe de 52 à 60 sur 100, le pare-feu est désormais actif, le scanner de malwares est détecté, et plusieurs avertissements ont été résolus. </a:t>
            </a:r>
          </a:p>
        </p:txBody>
      </p:sp>
      <p:pic>
        <p:nvPicPr>
          <p:cNvPr id="10" name="Picture 9">
            <a:extLst>
              <a:ext uri="{FF2B5EF4-FFF2-40B4-BE49-F238E27FC236}">
                <a16:creationId xmlns:a16="http://schemas.microsoft.com/office/drawing/2014/main" id="{8518B0DA-77A6-0CEC-1BF1-65E9E8BEC8DC}"/>
              </a:ext>
            </a:extLst>
          </p:cNvPr>
          <p:cNvPicPr/>
          <p:nvPr/>
        </p:nvPicPr>
        <p:blipFill>
          <a:blip r:embed="rId4"/>
          <a:stretch>
            <a:fillRect/>
          </a:stretch>
        </p:blipFill>
        <p:spPr>
          <a:xfrm>
            <a:off x="4908063" y="1362618"/>
            <a:ext cx="5509846" cy="4569260"/>
          </a:xfrm>
          <a:prstGeom prst="rect">
            <a:avLst/>
          </a:prstGeom>
        </p:spPr>
      </p:pic>
      <p:sp>
        <p:nvSpPr>
          <p:cNvPr id="12" name="TextBox 11">
            <a:extLst>
              <a:ext uri="{FF2B5EF4-FFF2-40B4-BE49-F238E27FC236}">
                <a16:creationId xmlns:a16="http://schemas.microsoft.com/office/drawing/2014/main" id="{24E9E428-DE92-82EF-A724-4AFCFA1893ED}"/>
              </a:ext>
            </a:extLst>
          </p:cNvPr>
          <p:cNvSpPr txBox="1"/>
          <p:nvPr/>
        </p:nvSpPr>
        <p:spPr>
          <a:xfrm>
            <a:off x="2985477" y="5931878"/>
            <a:ext cx="6400800" cy="222561"/>
          </a:xfrm>
          <a:prstGeom prst="rect">
            <a:avLst/>
          </a:prstGeom>
          <a:noFill/>
        </p:spPr>
        <p:txBody>
          <a:bodyPr wrap="square">
            <a:spAutoFit/>
          </a:bodyPr>
          <a:lstStyle/>
          <a:p>
            <a:pPr marL="10795" marR="4445" algn="r">
              <a:lnSpc>
                <a:spcPct val="115000"/>
              </a:lnSpc>
              <a:spcAft>
                <a:spcPts val="935"/>
              </a:spcAft>
              <a:buNone/>
            </a:pPr>
            <a:r>
              <a:rPr lang="fr-BE" sz="800" kern="100" dirty="0">
                <a:solidFill>
                  <a:srgbClr val="444444"/>
                </a:solidFill>
                <a:effectLst/>
                <a:latin typeface="Times New Roman" panose="02020603050405020304" pitchFamily="18" charset="0"/>
                <a:ea typeface="Aptos" panose="020B0004020202020204" pitchFamily="34" charset="0"/>
                <a:cs typeface="Times New Roman" panose="02020603050405020304" pitchFamily="18" charset="0"/>
              </a:rPr>
              <a:t>Rapport final Lynis score de 60/100, pare-feu UFW actif, scanner de malwares activé</a:t>
            </a:r>
            <a:r>
              <a:rPr lang="fr-BE" sz="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506945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B674735-FCE7-973C-0BCB-47A7C1D08791}"/>
              </a:ext>
            </a:extLst>
          </p:cNvPr>
          <p:cNvGraphicFramePr>
            <a:graphicFrameLocks noGrp="1"/>
          </p:cNvGraphicFramePr>
          <p:nvPr>
            <p:extLst>
              <p:ext uri="{D42A27DB-BD31-4B8C-83A1-F6EECF244321}">
                <p14:modId xmlns:p14="http://schemas.microsoft.com/office/powerpoint/2010/main" val="2459315404"/>
              </p:ext>
            </p:extLst>
          </p:nvPr>
        </p:nvGraphicFramePr>
        <p:xfrm>
          <a:off x="1164493" y="1641231"/>
          <a:ext cx="6439876" cy="3532555"/>
        </p:xfrm>
        <a:graphic>
          <a:graphicData uri="http://schemas.openxmlformats.org/drawingml/2006/table">
            <a:tbl>
              <a:tblPr firstRow="1" firstCol="1" bandRow="1">
                <a:tableStyleId>{5C22544A-7EE6-4342-B048-85BDC9FD1C3A}</a:tableStyleId>
              </a:tblPr>
              <a:tblGrid>
                <a:gridCol w="2283598">
                  <a:extLst>
                    <a:ext uri="{9D8B030D-6E8A-4147-A177-3AD203B41FA5}">
                      <a16:colId xmlns:a16="http://schemas.microsoft.com/office/drawing/2014/main" val="2634681493"/>
                    </a:ext>
                  </a:extLst>
                </a:gridCol>
                <a:gridCol w="2078853">
                  <a:extLst>
                    <a:ext uri="{9D8B030D-6E8A-4147-A177-3AD203B41FA5}">
                      <a16:colId xmlns:a16="http://schemas.microsoft.com/office/drawing/2014/main" val="4254046032"/>
                    </a:ext>
                  </a:extLst>
                </a:gridCol>
                <a:gridCol w="2077425">
                  <a:extLst>
                    <a:ext uri="{9D8B030D-6E8A-4147-A177-3AD203B41FA5}">
                      <a16:colId xmlns:a16="http://schemas.microsoft.com/office/drawing/2014/main" val="2207741492"/>
                    </a:ext>
                  </a:extLst>
                </a:gridCol>
              </a:tblGrid>
              <a:tr h="389226">
                <a:tc>
                  <a:txBody>
                    <a:bodyPr/>
                    <a:lstStyle/>
                    <a:p>
                      <a:pPr marL="0" marR="6985" algn="ctr">
                        <a:lnSpc>
                          <a:spcPct val="107000"/>
                        </a:lnSpc>
                        <a:spcAft>
                          <a:spcPts val="800"/>
                        </a:spcAft>
                        <a:buNone/>
                      </a:pPr>
                      <a:r>
                        <a:rPr lang="fr-BE" sz="1200" kern="100" dirty="0">
                          <a:effectLst/>
                        </a:rPr>
                        <a:t>Critère </a:t>
                      </a:r>
                      <a:endParaRPr lang="fr-BE"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90805" marR="0">
                        <a:lnSpc>
                          <a:spcPct val="107000"/>
                        </a:lnSpc>
                        <a:spcAft>
                          <a:spcPts val="800"/>
                        </a:spcAft>
                        <a:buNone/>
                      </a:pPr>
                      <a:r>
                        <a:rPr lang="fr-BE" sz="1200" kern="100">
                          <a:effectLst/>
                        </a:rPr>
                        <a:t>Avant Hardening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93980" marR="0">
                        <a:lnSpc>
                          <a:spcPct val="107000"/>
                        </a:lnSpc>
                        <a:spcAft>
                          <a:spcPts val="800"/>
                        </a:spcAft>
                        <a:buNone/>
                      </a:pPr>
                      <a:r>
                        <a:rPr lang="fr-BE" sz="1200" kern="100">
                          <a:effectLst/>
                        </a:rPr>
                        <a:t>Après Hardening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3529741893"/>
                  </a:ext>
                </a:extLst>
              </a:tr>
              <a:tr h="411756">
                <a:tc>
                  <a:txBody>
                    <a:bodyPr/>
                    <a:lstStyle/>
                    <a:p>
                      <a:pPr marL="0" marR="0">
                        <a:lnSpc>
                          <a:spcPct val="107000"/>
                        </a:lnSpc>
                        <a:spcAft>
                          <a:spcPts val="800"/>
                        </a:spcAft>
                        <a:buNone/>
                      </a:pPr>
                      <a:r>
                        <a:rPr lang="fr-BE" sz="1200" kern="100">
                          <a:effectLst/>
                        </a:rPr>
                        <a:t>Hardening Index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3175" algn="ctr">
                        <a:lnSpc>
                          <a:spcPct val="107000"/>
                        </a:lnSpc>
                        <a:spcAft>
                          <a:spcPts val="800"/>
                        </a:spcAft>
                        <a:buNone/>
                      </a:pPr>
                      <a:r>
                        <a:rPr lang="fr-BE" sz="1200" kern="100">
                          <a:effectLst/>
                        </a:rPr>
                        <a:t>52 / 100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5080" algn="ctr">
                        <a:lnSpc>
                          <a:spcPct val="107000"/>
                        </a:lnSpc>
                        <a:spcAft>
                          <a:spcPts val="800"/>
                        </a:spcAft>
                        <a:buNone/>
                      </a:pPr>
                      <a:r>
                        <a:rPr lang="fr-BE" sz="1200" kern="100">
                          <a:effectLst/>
                        </a:rPr>
                        <a:t>60 / 100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4275406518"/>
                  </a:ext>
                </a:extLst>
              </a:tr>
              <a:tr h="433509">
                <a:tc>
                  <a:txBody>
                    <a:bodyPr/>
                    <a:lstStyle/>
                    <a:p>
                      <a:pPr marL="0" marR="0">
                        <a:lnSpc>
                          <a:spcPct val="107000"/>
                        </a:lnSpc>
                        <a:spcAft>
                          <a:spcPts val="800"/>
                        </a:spcAft>
                        <a:buNone/>
                      </a:pPr>
                      <a:r>
                        <a:rPr lang="fr-BE" sz="1200" kern="100">
                          <a:effectLst/>
                        </a:rPr>
                        <a:t>Tests effectués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nchor="ctr"/>
                </a:tc>
                <a:tc>
                  <a:txBody>
                    <a:bodyPr/>
                    <a:lstStyle/>
                    <a:p>
                      <a:pPr marL="0" marR="635" algn="ctr">
                        <a:lnSpc>
                          <a:spcPct val="107000"/>
                        </a:lnSpc>
                        <a:spcAft>
                          <a:spcPts val="800"/>
                        </a:spcAft>
                        <a:buNone/>
                      </a:pPr>
                      <a:r>
                        <a:rPr lang="fr-BE" sz="1200" kern="100">
                          <a:effectLst/>
                        </a:rPr>
                        <a:t>277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nchor="ctr"/>
                </a:tc>
                <a:tc>
                  <a:txBody>
                    <a:bodyPr/>
                    <a:lstStyle/>
                    <a:p>
                      <a:pPr marL="0" marR="2540" algn="ctr">
                        <a:lnSpc>
                          <a:spcPct val="107000"/>
                        </a:lnSpc>
                        <a:spcAft>
                          <a:spcPts val="800"/>
                        </a:spcAft>
                        <a:buNone/>
                      </a:pPr>
                      <a:r>
                        <a:rPr lang="fr-BE" sz="1200" kern="100">
                          <a:effectLst/>
                        </a:rPr>
                        <a:t>277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nchor="ctr"/>
                </a:tc>
                <a:extLst>
                  <a:ext uri="{0D108BD9-81ED-4DB2-BD59-A6C34878D82A}">
                    <a16:rowId xmlns:a16="http://schemas.microsoft.com/office/drawing/2014/main" val="2751544988"/>
                  </a:ext>
                </a:extLst>
              </a:tr>
              <a:tr h="388449">
                <a:tc>
                  <a:txBody>
                    <a:bodyPr/>
                    <a:lstStyle/>
                    <a:p>
                      <a:pPr marL="0" marR="0">
                        <a:lnSpc>
                          <a:spcPct val="107000"/>
                        </a:lnSpc>
                        <a:spcAft>
                          <a:spcPts val="800"/>
                        </a:spcAft>
                        <a:buNone/>
                      </a:pPr>
                      <a:r>
                        <a:rPr lang="fr-BE" sz="1200" kern="100">
                          <a:effectLst/>
                        </a:rPr>
                        <a:t>Pare-feu actif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2540" algn="ctr">
                        <a:lnSpc>
                          <a:spcPct val="107000"/>
                        </a:lnSpc>
                        <a:spcAft>
                          <a:spcPts val="800"/>
                        </a:spcAft>
                        <a:buNone/>
                      </a:pPr>
                      <a:r>
                        <a:rPr lang="fr-BE" sz="1200" kern="100">
                          <a:effectLst/>
                        </a:rPr>
                        <a:t>Non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5080" algn="ctr">
                        <a:lnSpc>
                          <a:spcPct val="107000"/>
                        </a:lnSpc>
                        <a:spcAft>
                          <a:spcPts val="800"/>
                        </a:spcAft>
                        <a:buNone/>
                      </a:pPr>
                      <a:r>
                        <a:rPr lang="fr-BE" sz="1200" kern="100">
                          <a:effectLst/>
                        </a:rPr>
                        <a:t>Oui (UFW)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3313144227"/>
                  </a:ext>
                </a:extLst>
              </a:tr>
              <a:tr h="411756">
                <a:tc>
                  <a:txBody>
                    <a:bodyPr/>
                    <a:lstStyle/>
                    <a:p>
                      <a:pPr marL="0" marR="0">
                        <a:lnSpc>
                          <a:spcPct val="107000"/>
                        </a:lnSpc>
                        <a:spcAft>
                          <a:spcPts val="800"/>
                        </a:spcAft>
                        <a:buNone/>
                      </a:pPr>
                      <a:r>
                        <a:rPr lang="fr-BE" sz="1200" kern="100">
                          <a:effectLst/>
                        </a:rPr>
                        <a:t>IDS installé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2540" algn="ctr">
                        <a:lnSpc>
                          <a:spcPct val="107000"/>
                        </a:lnSpc>
                        <a:spcAft>
                          <a:spcPts val="800"/>
                        </a:spcAft>
                        <a:buNone/>
                      </a:pPr>
                      <a:r>
                        <a:rPr lang="fr-BE" sz="1200" kern="100">
                          <a:effectLst/>
                        </a:rPr>
                        <a:t>Non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5080" algn="ctr">
                        <a:lnSpc>
                          <a:spcPct val="107000"/>
                        </a:lnSpc>
                        <a:spcAft>
                          <a:spcPts val="800"/>
                        </a:spcAft>
                        <a:buNone/>
                      </a:pPr>
                      <a:r>
                        <a:rPr lang="fr-BE" sz="1200" kern="100">
                          <a:effectLst/>
                        </a:rPr>
                        <a:t>Oui (AIDE)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3180342390"/>
                  </a:ext>
                </a:extLst>
              </a:tr>
              <a:tr h="411756">
                <a:tc>
                  <a:txBody>
                    <a:bodyPr/>
                    <a:lstStyle/>
                    <a:p>
                      <a:pPr marL="0" marR="0">
                        <a:lnSpc>
                          <a:spcPct val="107000"/>
                        </a:lnSpc>
                        <a:spcAft>
                          <a:spcPts val="800"/>
                        </a:spcAft>
                        <a:buNone/>
                      </a:pPr>
                      <a:r>
                        <a:rPr lang="fr-BE" sz="1200" kern="100">
                          <a:effectLst/>
                        </a:rPr>
                        <a:t>MàJ automatiques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2540" algn="ctr">
                        <a:lnSpc>
                          <a:spcPct val="107000"/>
                        </a:lnSpc>
                        <a:spcAft>
                          <a:spcPts val="800"/>
                        </a:spcAft>
                        <a:buNone/>
                      </a:pPr>
                      <a:r>
                        <a:rPr lang="fr-BE" sz="1200" kern="100" dirty="0">
                          <a:effectLst/>
                        </a:rPr>
                        <a:t>Non </a:t>
                      </a:r>
                      <a:endParaRPr lang="fr-BE"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6350" algn="ctr">
                        <a:lnSpc>
                          <a:spcPct val="107000"/>
                        </a:lnSpc>
                        <a:spcAft>
                          <a:spcPts val="800"/>
                        </a:spcAft>
                        <a:buNone/>
                      </a:pPr>
                      <a:r>
                        <a:rPr lang="fr-BE" sz="1200" kern="100">
                          <a:effectLst/>
                        </a:rPr>
                        <a:t>Oui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3140510318"/>
                  </a:ext>
                </a:extLst>
              </a:tr>
              <a:tr h="720961">
                <a:tc>
                  <a:txBody>
                    <a:bodyPr/>
                    <a:lstStyle/>
                    <a:p>
                      <a:pPr marL="0" marR="0">
                        <a:lnSpc>
                          <a:spcPct val="107000"/>
                        </a:lnSpc>
                        <a:spcAft>
                          <a:spcPts val="800"/>
                        </a:spcAft>
                        <a:buNone/>
                      </a:pPr>
                      <a:r>
                        <a:rPr lang="fr-BE" sz="1200" kern="100">
                          <a:effectLst/>
                        </a:rPr>
                        <a:t>Permissions /etc/shadow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nchor="ctr"/>
                </a:tc>
                <a:tc>
                  <a:txBody>
                    <a:bodyPr/>
                    <a:lstStyle/>
                    <a:p>
                      <a:pPr marL="0" marR="635" algn="ctr">
                        <a:lnSpc>
                          <a:spcPct val="107000"/>
                        </a:lnSpc>
                        <a:spcAft>
                          <a:spcPts val="800"/>
                        </a:spcAft>
                        <a:buNone/>
                      </a:pPr>
                      <a:r>
                        <a:rPr lang="fr-BE" sz="1200" kern="100">
                          <a:effectLst/>
                        </a:rPr>
                        <a:t>640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2540" algn="ctr">
                        <a:lnSpc>
                          <a:spcPct val="107000"/>
                        </a:lnSpc>
                        <a:spcAft>
                          <a:spcPts val="800"/>
                        </a:spcAft>
                        <a:buNone/>
                      </a:pPr>
                      <a:r>
                        <a:rPr lang="fr-BE" sz="1200" kern="100">
                          <a:effectLst/>
                        </a:rPr>
                        <a:t>000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3583604226"/>
                  </a:ext>
                </a:extLst>
              </a:tr>
              <a:tr h="365142">
                <a:tc>
                  <a:txBody>
                    <a:bodyPr/>
                    <a:lstStyle/>
                    <a:p>
                      <a:pPr marL="0" marR="0">
                        <a:lnSpc>
                          <a:spcPct val="107000"/>
                        </a:lnSpc>
                        <a:spcAft>
                          <a:spcPts val="800"/>
                        </a:spcAft>
                        <a:buNone/>
                      </a:pPr>
                      <a:r>
                        <a:rPr lang="fr-BE" sz="1200" kern="100">
                          <a:effectLst/>
                        </a:rPr>
                        <a:t>Intégrité des fichiers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0" marR="3810" algn="ctr">
                        <a:lnSpc>
                          <a:spcPct val="107000"/>
                        </a:lnSpc>
                        <a:spcAft>
                          <a:spcPts val="800"/>
                        </a:spcAft>
                        <a:buNone/>
                      </a:pPr>
                      <a:r>
                        <a:rPr lang="fr-BE" sz="1200" kern="100">
                          <a:effectLst/>
                        </a:rPr>
                        <a:t>Non contrôlée </a:t>
                      </a:r>
                      <a:endParaRPr lang="fr-BE" sz="12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tc>
                  <a:txBody>
                    <a:bodyPr/>
                    <a:lstStyle/>
                    <a:p>
                      <a:pPr marL="76835" marR="0">
                        <a:lnSpc>
                          <a:spcPct val="107000"/>
                        </a:lnSpc>
                        <a:spcAft>
                          <a:spcPts val="800"/>
                        </a:spcAft>
                        <a:buNone/>
                      </a:pPr>
                      <a:r>
                        <a:rPr lang="fr-BE" sz="1200" kern="100" dirty="0">
                          <a:effectLst/>
                        </a:rPr>
                        <a:t>Initialisée (AIDE) </a:t>
                      </a:r>
                      <a:endParaRPr lang="fr-BE"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3025" marT="80645" marB="0"/>
                </a:tc>
                <a:extLst>
                  <a:ext uri="{0D108BD9-81ED-4DB2-BD59-A6C34878D82A}">
                    <a16:rowId xmlns:a16="http://schemas.microsoft.com/office/drawing/2014/main" val="3278586295"/>
                  </a:ext>
                </a:extLst>
              </a:tr>
            </a:tbl>
          </a:graphicData>
        </a:graphic>
      </p:graphicFrame>
      <p:sp>
        <p:nvSpPr>
          <p:cNvPr id="6" name="TextBox 5">
            <a:extLst>
              <a:ext uri="{FF2B5EF4-FFF2-40B4-BE49-F238E27FC236}">
                <a16:creationId xmlns:a16="http://schemas.microsoft.com/office/drawing/2014/main" id="{2F3BF33E-94C8-CED4-9329-3CBEDEBFE030}"/>
              </a:ext>
            </a:extLst>
          </p:cNvPr>
          <p:cNvSpPr txBox="1"/>
          <p:nvPr/>
        </p:nvSpPr>
        <p:spPr>
          <a:xfrm>
            <a:off x="1164492" y="296985"/>
            <a:ext cx="7979508" cy="1523494"/>
          </a:xfrm>
          <a:prstGeom prst="rect">
            <a:avLst/>
          </a:prstGeom>
          <a:noFill/>
        </p:spPr>
        <p:txBody>
          <a:bodyPr wrap="square">
            <a:spAutoFit/>
          </a:bodyPr>
          <a:lstStyle/>
          <a:p>
            <a:pPr marL="0" marR="0">
              <a:lnSpc>
                <a:spcPct val="115000"/>
              </a:lnSpc>
              <a:spcBef>
                <a:spcPts val="800"/>
              </a:spcBef>
              <a:spcAft>
                <a:spcPts val="400"/>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Tableau comparatif : Score avant/après </a:t>
            </a:r>
            <a:r>
              <a:rPr lang="fr-BE" sz="2000" b="1" kern="100" dirty="0" err="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48895">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Le tableau suivant synthétise les améliorations mesurées entre l'audit initial et l'audit final : </a:t>
            </a:r>
          </a:p>
          <a:p>
            <a:pPr marL="0" marR="0">
              <a:lnSpc>
                <a:spcPct val="107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
        <p:nvSpPr>
          <p:cNvPr id="8" name="TextBox 7">
            <a:extLst>
              <a:ext uri="{FF2B5EF4-FFF2-40B4-BE49-F238E27FC236}">
                <a16:creationId xmlns:a16="http://schemas.microsoft.com/office/drawing/2014/main" id="{7EB39FD5-572B-5E2B-A446-D01FD374358B}"/>
              </a:ext>
            </a:extLst>
          </p:cNvPr>
          <p:cNvSpPr txBox="1"/>
          <p:nvPr/>
        </p:nvSpPr>
        <p:spPr>
          <a:xfrm>
            <a:off x="7604368" y="1758463"/>
            <a:ext cx="4845539" cy="3761222"/>
          </a:xfrm>
          <a:prstGeom prst="rect">
            <a:avLst/>
          </a:prstGeom>
          <a:noFill/>
        </p:spPr>
        <p:txBody>
          <a:bodyPr wrap="square">
            <a:spAutoFit/>
          </a:bodyPr>
          <a:lstStyle/>
          <a:p>
            <a:pPr marL="0" marR="48895">
              <a:lnSpc>
                <a:spcPct val="115000"/>
              </a:lnSpc>
              <a:spcAft>
                <a:spcPts val="725"/>
              </a:spcAft>
              <a:buNone/>
            </a:pPr>
            <a:endParaRPr lang="fr-BE"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48895">
              <a:lnSpc>
                <a:spcPct val="115000"/>
              </a:lnSpc>
              <a:spcAft>
                <a:spcPts val="725"/>
              </a:spcAft>
              <a:buNone/>
            </a:pPr>
            <a:endParaRPr lang="fr-BE" kern="100" dirty="0">
              <a:latin typeface="Aptos" panose="020B0004020202020204" pitchFamily="34" charset="0"/>
              <a:ea typeface="Aptos" panose="020B0004020202020204" pitchFamily="34" charset="0"/>
              <a:cs typeface="Times New Roman" panose="02020603050405020304" pitchFamily="18" charset="0"/>
            </a:endParaRPr>
          </a:p>
          <a:p>
            <a:pPr marL="0" marR="48895">
              <a:lnSpc>
                <a:spcPct val="115000"/>
              </a:lnSpc>
              <a:spcAft>
                <a:spcPts val="725"/>
              </a:spcAft>
              <a:buNone/>
            </a:pPr>
            <a:endParaRPr lang="fr-BE"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48895">
              <a:lnSpc>
                <a:spcPct val="115000"/>
              </a:lnSpc>
              <a:spcAft>
                <a:spcPts val="725"/>
              </a:spcAft>
              <a:buNone/>
            </a:pPr>
            <a:endParaRPr lang="fr-BE" kern="100" dirty="0">
              <a:latin typeface="Aptos" panose="020B0004020202020204" pitchFamily="34" charset="0"/>
              <a:ea typeface="Aptos" panose="020B0004020202020204" pitchFamily="34" charset="0"/>
              <a:cs typeface="Times New Roman" panose="02020603050405020304" pitchFamily="18" charset="0"/>
            </a:endParaRPr>
          </a:p>
          <a:p>
            <a:pPr marL="0" marR="48895">
              <a:lnSpc>
                <a:spcPct val="115000"/>
              </a:lnSpc>
              <a:spcAft>
                <a:spcPts val="725"/>
              </a:spcAft>
              <a:buNone/>
            </a:pPr>
            <a:endParaRPr lang="fr-BE"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48895">
              <a:lnSpc>
                <a:spcPct val="115000"/>
              </a:lnSpc>
              <a:spcAft>
                <a:spcPts val="725"/>
              </a:spcAft>
              <a:buNone/>
            </a:pPr>
            <a:endParaRPr lang="fr-BE" kern="100" dirty="0">
              <a:latin typeface="Aptos" panose="020B0004020202020204" pitchFamily="34" charset="0"/>
              <a:ea typeface="Aptos" panose="020B0004020202020204" pitchFamily="34" charset="0"/>
              <a:cs typeface="Times New Roman" panose="02020603050405020304" pitchFamily="18" charset="0"/>
            </a:endParaRPr>
          </a:p>
          <a:p>
            <a:pPr marL="0" marR="48895">
              <a:lnSpc>
                <a:spcPct val="115000"/>
              </a:lnSpc>
              <a:spcAft>
                <a:spcPts val="725"/>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L'analyse des résultats confirme une progression de +8 points du score de </a:t>
            </a:r>
            <a:r>
              <a:rPr lang="fr-BE"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hardening</a:t>
            </a:r>
            <a:r>
              <a:rPr lang="fr-BE" sz="1400" kern="100" dirty="0">
                <a:effectLst/>
                <a:latin typeface="Times New Roman" panose="02020603050405020304" pitchFamily="18" charset="0"/>
                <a:ea typeface="Times New Roman" panose="02020603050405020304" pitchFamily="18" charset="0"/>
                <a:cs typeface="Times New Roman" panose="02020603050405020304" pitchFamily="18" charset="0"/>
              </a:rPr>
              <a:t> (52 → 60/100). Les principales améliorations portent sur </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l'activation du pare-feu UFW, la mise en place de l'IDS AIDE, l'automatisation des mises à jour de sécurité et la correction des permissions des fichiers sensibles. </a:t>
            </a:r>
          </a:p>
        </p:txBody>
      </p:sp>
    </p:spTree>
    <p:extLst>
      <p:ext uri="{BB962C8B-B14F-4D97-AF65-F5344CB8AC3E}">
        <p14:creationId xmlns:p14="http://schemas.microsoft.com/office/powerpoint/2010/main" val="1147865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26CF18-6C8B-49E4-95B9-2D97FF66A773}"/>
              </a:ext>
            </a:extLst>
          </p:cNvPr>
          <p:cNvSpPr txBox="1"/>
          <p:nvPr/>
        </p:nvSpPr>
        <p:spPr>
          <a:xfrm>
            <a:off x="765908" y="70338"/>
            <a:ext cx="8378092" cy="6088013"/>
          </a:xfrm>
          <a:prstGeom prst="rect">
            <a:avLst/>
          </a:prstGeom>
          <a:noFill/>
        </p:spPr>
        <p:txBody>
          <a:bodyPr wrap="square">
            <a:spAutoFit/>
          </a:bodyPr>
          <a:lstStyle/>
          <a:p>
            <a:pPr marL="0" marR="0" algn="just">
              <a:lnSpc>
                <a:spcPct val="115000"/>
              </a:lnSpc>
              <a:spcBef>
                <a:spcPts val="800"/>
              </a:spcBef>
              <a:spcAft>
                <a:spcPts val="835"/>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Perspectives d'évolution du projet </a:t>
            </a:r>
          </a:p>
          <a:p>
            <a:pPr marL="0" marR="48895" algn="just">
              <a:lnSpc>
                <a:spcPct val="115000"/>
              </a:lnSpc>
              <a:spcAft>
                <a:spcPts val="95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Ce projet d'audit de sécurité peut être enrichi afin de se rapprocher davantage des pratiques de sécurité utilisées dans les environnements professionnels modernes. </a:t>
            </a:r>
          </a:p>
          <a:p>
            <a:pPr marL="0" marR="0" algn="just">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1. Amélioration du score Lynis </a:t>
            </a:r>
          </a:p>
          <a:p>
            <a:pPr marL="0" marR="48895" algn="just">
              <a:lnSpc>
                <a:spcPct val="115000"/>
              </a:lnSpc>
              <a:spcAft>
                <a:spcPts val="94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Des optimisations supplémentaires permettraient de dépasser le score de 60/100 : configuration avancée de PAM pour les politiques de mots de passe, mise en place de NTP sécurisé, durcissement de la configuration SSH (désactivation du login root, utilisation exclusive de clés cryptographiques). </a:t>
            </a:r>
          </a:p>
          <a:p>
            <a:pPr marL="0" marR="0" algn="just">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2. Automatisation de l'audit </a:t>
            </a:r>
          </a:p>
          <a:p>
            <a:pPr marL="0" marR="48895" algn="just">
              <a:lnSpc>
                <a:spcPct val="115000"/>
              </a:lnSpc>
              <a:spcAft>
                <a:spcPts val="94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Mettre en place un système d'audit automatisé périodique via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cron</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qui exécute Lynis régulièrement et envoie des rapports par email en cas de dégradation du score de sécurité. </a:t>
            </a:r>
          </a:p>
          <a:p>
            <a:pPr marL="0" marR="0" algn="just">
              <a:lnSpc>
                <a:spcPct val="115000"/>
              </a:lnSpc>
              <a:spcBef>
                <a:spcPts val="800"/>
              </a:spcBef>
              <a:spcAft>
                <a:spcPts val="400"/>
              </a:spcAft>
              <a:buNone/>
            </a:pPr>
            <a:r>
              <a:rPr lang="fr-BE" sz="14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3. Surveillance en temps réel </a:t>
            </a:r>
          </a:p>
          <a:p>
            <a:pPr marL="0" marR="48895" algn="just">
              <a:lnSpc>
                <a:spcPct val="115000"/>
              </a:lnSpc>
              <a:spcAft>
                <a:spcPts val="940"/>
              </a:spcAft>
              <a:buNone/>
            </a:pP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Intégrer des outils de surveillance comme fail2ban pour bloquer les tentatives d'intrusion par force brute, ou </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wazuh</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fr-BE" sz="1400" kern="100" dirty="0" err="1">
                <a:effectLst/>
                <a:latin typeface="Times New Roman" panose="02020603050405020304" pitchFamily="18" charset="0"/>
                <a:ea typeface="Aptos" panose="020B0004020202020204" pitchFamily="34" charset="0"/>
                <a:cs typeface="Times New Roman" panose="02020603050405020304" pitchFamily="18" charset="0"/>
              </a:rPr>
              <a:t>ossec</a:t>
            </a:r>
            <a:r>
              <a:rPr lang="fr-BE" sz="1400" kern="100" dirty="0">
                <a:effectLst/>
                <a:latin typeface="Times New Roman" panose="02020603050405020304" pitchFamily="18" charset="0"/>
                <a:ea typeface="Aptos" panose="020B0004020202020204" pitchFamily="34" charset="0"/>
                <a:cs typeface="Times New Roman" panose="02020603050405020304" pitchFamily="18" charset="0"/>
              </a:rPr>
              <a:t> pour une détection d'intrusion plus avancée et centralisée. </a:t>
            </a:r>
          </a:p>
          <a:p>
            <a:pPr algn="just"/>
            <a:r>
              <a:rPr lang="fr-BE" sz="1400" b="1" dirty="0">
                <a:solidFill>
                  <a:schemeClr val="accent5">
                    <a:lumMod val="50000"/>
                  </a:schemeClr>
                </a:solidFill>
                <a:latin typeface="Times New Roman" panose="02020603050405020304" pitchFamily="18" charset="0"/>
                <a:cs typeface="Times New Roman" panose="02020603050405020304" pitchFamily="18" charset="0"/>
              </a:rPr>
              <a:t>4. Gestion des vulnérabilités </a:t>
            </a:r>
          </a:p>
          <a:p>
            <a:pPr algn="just"/>
            <a:r>
              <a:rPr lang="fr-BE" sz="1400" dirty="0">
                <a:latin typeface="Times New Roman" panose="02020603050405020304" pitchFamily="18" charset="0"/>
                <a:cs typeface="Times New Roman" panose="02020603050405020304" pitchFamily="18" charset="0"/>
              </a:rPr>
              <a:t>Coupler Lynis avec des outils de scan de vulnérabilités comme </a:t>
            </a:r>
            <a:r>
              <a:rPr lang="fr-BE" sz="1400" dirty="0" err="1">
                <a:latin typeface="Times New Roman" panose="02020603050405020304" pitchFamily="18" charset="0"/>
                <a:cs typeface="Times New Roman" panose="02020603050405020304" pitchFamily="18" charset="0"/>
              </a:rPr>
              <a:t>OpenVAS</a:t>
            </a:r>
            <a:r>
              <a:rPr lang="fr-BE" sz="1400" dirty="0">
                <a:latin typeface="Times New Roman" panose="02020603050405020304" pitchFamily="18" charset="0"/>
                <a:cs typeface="Times New Roman" panose="02020603050405020304" pitchFamily="18" charset="0"/>
              </a:rPr>
              <a:t> pour obtenir une vision plus complète des risques et des CVE affectant le serveur. </a:t>
            </a:r>
          </a:p>
          <a:p>
            <a:pPr algn="just"/>
            <a:endParaRPr lang="fr-BE" sz="1400" dirty="0">
              <a:latin typeface="Times New Roman" panose="02020603050405020304" pitchFamily="18" charset="0"/>
              <a:cs typeface="Times New Roman" panose="02020603050405020304" pitchFamily="18" charset="0"/>
            </a:endParaRPr>
          </a:p>
          <a:p>
            <a:pPr algn="just"/>
            <a:r>
              <a:rPr lang="fr-BE" sz="1400" b="1" dirty="0">
                <a:solidFill>
                  <a:schemeClr val="accent5">
                    <a:lumMod val="50000"/>
                  </a:schemeClr>
                </a:solidFill>
                <a:latin typeface="Times New Roman" panose="02020603050405020304" pitchFamily="18" charset="0"/>
                <a:cs typeface="Times New Roman" panose="02020603050405020304" pitchFamily="18" charset="0"/>
              </a:rPr>
              <a:t>5. Déploiement à grande échelle </a:t>
            </a:r>
          </a:p>
          <a:p>
            <a:pPr algn="just"/>
            <a:r>
              <a:rPr lang="fr-BE" sz="1400" dirty="0">
                <a:latin typeface="Times New Roman" panose="02020603050405020304" pitchFamily="18" charset="0"/>
                <a:cs typeface="Times New Roman" panose="02020603050405020304" pitchFamily="18" charset="0"/>
              </a:rPr>
              <a:t>Étendre la méthodologie à un parc de serveurs en utilisant des outils d'automatisation comme Ansible pour appliquer le </a:t>
            </a:r>
            <a:r>
              <a:rPr lang="fr-BE" sz="1400" dirty="0" err="1">
                <a:latin typeface="Times New Roman" panose="02020603050405020304" pitchFamily="18" charset="0"/>
                <a:cs typeface="Times New Roman" panose="02020603050405020304" pitchFamily="18" charset="0"/>
              </a:rPr>
              <a:t>hardening</a:t>
            </a:r>
            <a:r>
              <a:rPr lang="fr-BE" sz="1400" dirty="0">
                <a:latin typeface="Times New Roman" panose="02020603050405020304" pitchFamily="18" charset="0"/>
                <a:cs typeface="Times New Roman" panose="02020603050405020304" pitchFamily="18" charset="0"/>
              </a:rPr>
              <a:t> de manière uniforme sur l'ensemble de l'infrastructure. </a:t>
            </a:r>
          </a:p>
          <a:p>
            <a:pPr marL="0" marR="48895">
              <a:lnSpc>
                <a:spcPct val="115000"/>
              </a:lnSpc>
              <a:spcAft>
                <a:spcPts val="940"/>
              </a:spcAft>
              <a:buNone/>
            </a:pPr>
            <a:endParaRPr lang="fr-BE" sz="1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99497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B0B5CB-19DE-0CD1-BBA8-5E6081A52B01}"/>
              </a:ext>
            </a:extLst>
          </p:cNvPr>
          <p:cNvSpPr txBox="1"/>
          <p:nvPr/>
        </p:nvSpPr>
        <p:spPr>
          <a:xfrm>
            <a:off x="836246" y="109415"/>
            <a:ext cx="8307754" cy="6358857"/>
          </a:xfrm>
          <a:prstGeom prst="rect">
            <a:avLst/>
          </a:prstGeom>
          <a:noFill/>
        </p:spPr>
        <p:txBody>
          <a:bodyPr wrap="square">
            <a:spAutoFit/>
          </a:bodyPr>
          <a:lstStyle/>
          <a:p>
            <a:pPr marL="0" marR="0" algn="just">
              <a:lnSpc>
                <a:spcPct val="115000"/>
              </a:lnSpc>
              <a:spcBef>
                <a:spcPts val="800"/>
              </a:spcBef>
              <a:spcAft>
                <a:spcPts val="835"/>
              </a:spcAft>
              <a:buNone/>
            </a:pPr>
            <a:r>
              <a:rPr lang="fr-BE" sz="2000" b="1" kern="10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Conclusion </a:t>
            </a:r>
          </a:p>
          <a:p>
            <a:pPr marL="0" marR="48895" algn="just">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Ce projet d'audit de sécurité réalisé avec Lynis a permis de mettre en pratique les concepts fondamentaux de la cybersécurité appliquée aux systèmes Linux. </a:t>
            </a:r>
          </a:p>
          <a:p>
            <a:pPr marL="0" marR="48895" algn="just">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À travers l'installation de Lynis, la réalisation d'un audit initial, l'analyse des recommandations et l'application de mesures de </a:t>
            </a:r>
            <a:r>
              <a:rPr lang="fr-BE" sz="18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ciblées, nous avons pu améliorer de manière mesurable le niveau de sécurité du serveur : le score de </a:t>
            </a:r>
            <a:r>
              <a:rPr lang="fr-BE" sz="1800" kern="100" dirty="0" err="1">
                <a:effectLst/>
                <a:latin typeface="Times New Roman" panose="02020603050405020304" pitchFamily="18" charset="0"/>
                <a:ea typeface="Aptos" panose="020B0004020202020204" pitchFamily="34" charset="0"/>
                <a:cs typeface="Times New Roman" panose="02020603050405020304" pitchFamily="18" charset="0"/>
              </a:rPr>
              <a:t>hardening</a:t>
            </a: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 est passé de 52 à 60 sur 100, soit une progression de +8 points. </a:t>
            </a:r>
          </a:p>
          <a:p>
            <a:pPr marL="0" marR="48895" algn="just">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Les mesures appliquées pare-feu UFW, IDS AIDE, mises à jour automatiques, correction des permissions illustrent concrètement comment un audit structuré permet d'identifier et de corriger les failles de configuration les plus courantes sur un serveur Ubuntu. </a:t>
            </a:r>
          </a:p>
          <a:p>
            <a:pPr marL="0" marR="48895" algn="just">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Ce projet démontre que la sécurité n'est pas un état figé mais un processus continu. Les audits réguliers, combinés à une veille sur les nouvelles vulnérabilités, sont essentiels pour maintenir un niveau de sécurité satisfaisant face aux menaces en constante évolution. </a:t>
            </a:r>
          </a:p>
          <a:p>
            <a:pPr marL="0" marR="48895" algn="just">
              <a:lnSpc>
                <a:spcPct val="115000"/>
              </a:lnSpc>
              <a:spcAft>
                <a:spcPts val="800"/>
              </a:spcAft>
              <a:buNone/>
            </a:pPr>
            <a:r>
              <a:rPr lang="fr-BE" sz="1800" kern="100" dirty="0">
                <a:effectLst/>
                <a:latin typeface="Times New Roman" panose="02020603050405020304" pitchFamily="18" charset="0"/>
                <a:ea typeface="Aptos" panose="020B0004020202020204" pitchFamily="34" charset="0"/>
                <a:cs typeface="Times New Roman" panose="02020603050405020304" pitchFamily="18" charset="0"/>
              </a:rPr>
              <a:t>En conclusion, Lynis s'avère être un outil précieux pour tout administrateur système souhaitant évaluer et améliorer la posture de sécurité de ses serveurs, que ce soit dans un environnement de formation ou en production. </a:t>
            </a:r>
          </a:p>
        </p:txBody>
      </p:sp>
    </p:spTree>
    <p:extLst>
      <p:ext uri="{BB962C8B-B14F-4D97-AF65-F5344CB8AC3E}">
        <p14:creationId xmlns:p14="http://schemas.microsoft.com/office/powerpoint/2010/main" val="3327097550"/>
      </p:ext>
    </p:extLst>
  </p:cSld>
  <p:clrMapOvr>
    <a:masterClrMapping/>
  </p:clrMapOvr>
</p:sld>
</file>

<file path=ppt/theme/theme1.xml><?xml version="1.0" encoding="utf-8"?>
<a:theme xmlns:a="http://schemas.openxmlformats.org/drawingml/2006/main" name="Rogner">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6804920_TF34357615.potx" id="{CE8D3FD0-B6B2-46D1-A798-44428C4A86B6}" vid="{2C857BE5-9AB4-46EA-819B-98EE63B4608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2.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9A38F-9A2C-42E5-9013-4C4B1FFCB4F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Conception Rognage</Template>
  <TotalTime>157</TotalTime>
  <Words>2444</Words>
  <Application>Microsoft Office PowerPoint</Application>
  <PresentationFormat>Widescreen</PresentationFormat>
  <Paragraphs>326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Franklin Gothic Book</vt:lpstr>
      <vt:lpstr>Times New Roman</vt:lpstr>
      <vt:lpstr>Rogner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Louis Dochlie</dc:creator>
  <cp:lastModifiedBy>Louis Dochlie</cp:lastModifiedBy>
  <cp:revision>1</cp:revision>
  <dcterms:created xsi:type="dcterms:W3CDTF">2026-05-17T09:44:37Z</dcterms:created>
  <dcterms:modified xsi:type="dcterms:W3CDTF">2026-05-17T12:21:56Z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